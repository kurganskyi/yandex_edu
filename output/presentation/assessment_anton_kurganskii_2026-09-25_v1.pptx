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1c7bbeefd9413e" /><Relationship Type="http://schemas.openxmlformats.org/officeDocument/2006/relationships/extended-properties" Target="/docProps/app.xml" Id="R49fbc8d611004c24" /><Relationship Type="http://schemas.openxmlformats.org/officeDocument/2006/relationships/officeDocument" Target="/ppt/presentation.xml" Id="Ra1cab53253cd48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4f1e56cb547f8"/>
  </p:sldMasterIdLst>
  <p:notesMasterIdLst>
    <p:notesMasterId xmlns:r="http://schemas.openxmlformats.org/officeDocument/2006/relationships" r:id="R30d65c75ab104ddc"/>
  </p:notesMasterIdLst>
  <p:sldIdLst>
    <p:sldId xmlns:r="http://schemas.openxmlformats.org/officeDocument/2006/relationships" id="256" r:id="R57c1b0554e854e4c"/>
    <p:sldId xmlns:r="http://schemas.openxmlformats.org/officeDocument/2006/relationships" id="257" r:id="R06aed611900343f6"/>
    <p:sldId xmlns:r="http://schemas.openxmlformats.org/officeDocument/2006/relationships" id="258" r:id="R508bad2432b64e59"/>
    <p:sldId xmlns:r="http://schemas.openxmlformats.org/officeDocument/2006/relationships" id="259" r:id="R58095cb5b83d4612"/>
    <p:sldId xmlns:r="http://schemas.openxmlformats.org/officeDocument/2006/relationships" id="260" r:id="Rd68ed4a8cf9d4bd4"/>
    <p:sldId xmlns:r="http://schemas.openxmlformats.org/officeDocument/2006/relationships" id="261" r:id="R9bbcc994c5924b43"/>
    <p:sldId xmlns:r="http://schemas.openxmlformats.org/officeDocument/2006/relationships" id="262" r:id="Raa26b6ecd02a48ae"/>
    <p:sldId xmlns:r="http://schemas.openxmlformats.org/officeDocument/2006/relationships" id="263" r:id="R876f8aaf231b4333"/>
    <p:sldId xmlns:r="http://schemas.openxmlformats.org/officeDocument/2006/relationships" id="264" r:id="R02fd0a0d4ad24ae0"/>
    <p:sldId xmlns:r="http://schemas.openxmlformats.org/officeDocument/2006/relationships" id="265" r:id="R9b6d4d9665504f99"/>
    <p:sldId xmlns:r="http://schemas.openxmlformats.org/officeDocument/2006/relationships" id="266" r:id="R785a61c62b044ef1"/>
    <p:sldId xmlns:r="http://schemas.openxmlformats.org/officeDocument/2006/relationships" id="267" r:id="R022336fb60a7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db3ad4c71243fa" /><Relationship Type="http://schemas.openxmlformats.org/officeDocument/2006/relationships/slideMaster" Target="/ppt/slideMasters/slideMaster1.xml" Id="R7ec4f1e56cb547f8" /><Relationship Type="http://schemas.openxmlformats.org/officeDocument/2006/relationships/notesMaster" Target="/ppt/notesMasters/notesMaster1.xml" Id="R30d65c75ab104ddc" /><Relationship Type="http://schemas.openxmlformats.org/officeDocument/2006/relationships/presProps" Target="/ppt/presProps.xml" Id="Raeb092b4747d4ee9" /><Relationship Type="http://schemas.openxmlformats.org/officeDocument/2006/relationships/tableStyles" Target="/ppt/tableStyles.xml" Id="Rc73e916fd78244ad" /><Relationship Type="http://schemas.openxmlformats.org/officeDocument/2006/relationships/slide" Target="/ppt/slides/slide1.xml" Id="R57c1b0554e854e4c" /><Relationship Type="http://schemas.openxmlformats.org/officeDocument/2006/relationships/slide" Target="/ppt/slides/slide2.xml" Id="R06aed611900343f6" /><Relationship Type="http://schemas.openxmlformats.org/officeDocument/2006/relationships/slide" Target="/ppt/slides/slide3.xml" Id="R508bad2432b64e59" /><Relationship Type="http://schemas.openxmlformats.org/officeDocument/2006/relationships/slide" Target="/ppt/slides/slide4.xml" Id="R58095cb5b83d4612" /><Relationship Type="http://schemas.openxmlformats.org/officeDocument/2006/relationships/slide" Target="/ppt/slides/slide5.xml" Id="Rd68ed4a8cf9d4bd4" /><Relationship Type="http://schemas.openxmlformats.org/officeDocument/2006/relationships/slide" Target="/ppt/slides/slide6.xml" Id="R9bbcc994c5924b43" /><Relationship Type="http://schemas.openxmlformats.org/officeDocument/2006/relationships/slide" Target="/ppt/slides/slide7.xml" Id="Raa26b6ecd02a48ae" /><Relationship Type="http://schemas.openxmlformats.org/officeDocument/2006/relationships/slide" Target="/ppt/slides/slide8.xml" Id="R876f8aaf231b4333" /><Relationship Type="http://schemas.openxmlformats.org/officeDocument/2006/relationships/slide" Target="/ppt/slides/slide9.xml" Id="R02fd0a0d4ad24ae0" /><Relationship Type="http://schemas.openxmlformats.org/officeDocument/2006/relationships/slide" Target="/ppt/slides/slide10.xml" Id="R9b6d4d9665504f99" /><Relationship Type="http://schemas.openxmlformats.org/officeDocument/2006/relationships/slide" Target="/ppt/slides/slide11.xml" Id="R785a61c62b044ef1" /><Relationship Type="http://schemas.openxmlformats.org/officeDocument/2006/relationships/slide" Target="/ppt/slides/slide12.xml" Id="R022336fb60a7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24240e4b584b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20a6c800e4312" /><Relationship Type="http://schemas.openxmlformats.org/officeDocument/2006/relationships/notesMaster" Target="/ppt/notesMasters/notesMaster1.xml" Id="R964ded93c37e45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68e2a3e80f4209" /><Relationship Type="http://schemas.openxmlformats.org/officeDocument/2006/relationships/notesMaster" Target="/ppt/notesMasters/notesMaster1.xml" Id="R271b1f7c124541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636b3c6aa04f95" /><Relationship Type="http://schemas.openxmlformats.org/officeDocument/2006/relationships/notesMaster" Target="/ppt/notesMasters/notesMaster1.xml" Id="R5104b6eecc8141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9b6c9f5bb4573" /><Relationship Type="http://schemas.openxmlformats.org/officeDocument/2006/relationships/notesMaster" Target="/ppt/notesMasters/notesMaster1.xml" Id="R9a2c9108aeb746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126762c4444421" /><Relationship Type="http://schemas.openxmlformats.org/officeDocument/2006/relationships/notesMaster" Target="/ppt/notesMasters/notesMaster1.xml" Id="R645fe9b9510e41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d7ba374ec242c0" /><Relationship Type="http://schemas.openxmlformats.org/officeDocument/2006/relationships/notesMaster" Target="/ppt/notesMasters/notesMaster1.xml" Id="R064313e1d55141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db62f2db8f4c51" /><Relationship Type="http://schemas.openxmlformats.org/officeDocument/2006/relationships/notesMaster" Target="/ppt/notesMasters/notesMaster1.xml" Id="R1ee6c3ca5ebc44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4bf9ef782d40eb" /><Relationship Type="http://schemas.openxmlformats.org/officeDocument/2006/relationships/notesMaster" Target="/ppt/notesMasters/notesMaster1.xml" Id="Re51471d8d47a45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6f044ee282470a" /><Relationship Type="http://schemas.openxmlformats.org/officeDocument/2006/relationships/notesMaster" Target="/ppt/notesMasters/notesMaster1.xml" Id="R0c0be5a36b2343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55373df6414e95" /><Relationship Type="http://schemas.openxmlformats.org/officeDocument/2006/relationships/notesMaster" Target="/ppt/notesMasters/notesMaster1.xml" Id="R22c9f99c80484e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57955fac614da4" /><Relationship Type="http://schemas.openxmlformats.org/officeDocument/2006/relationships/notesMaster" Target="/ppt/notesMasters/notesMaster1.xml" Id="R14e3308968b747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ad241362644f6d" /><Relationship Type="http://schemas.openxmlformats.org/officeDocument/2006/relationships/notesMaster" Target="/ppt/notesMasters/notesMaster1.xml" Id="R3febc532238a43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выступление периодом от прошлого ассесмента до текущей даты.</a:t>
            </a:r>
          </a:p>
          <a:p xmlns:a="http://schemas.openxmlformats.org/drawingml/2006/main">
            <a:r>
              <a:t>Данные Redmine выгружены 22.09.2026. Последняя закрытая задача в выгрузке датируется 02.09.2026.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portfolio/work_integrix/tasks_after_assessment_2025-10-24.csv.</a:t>
            </a:r>
          </a:p>
          <a:p xmlns:a="http://schemas.openxmlformats.org/drawingml/2006/main">
            <a:r>
              <a:t>93 задачи со статусом «Закрыта», 1214,5 часа трудозатрат после 24.10.2025.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Группы не пересекаются: SALE 2025/2026, Тамбов 2026, Электронная очередь 3.0, Белгород поддержка+модернизация, Кострома поддержка, MAX АПК+ДЦР, РСУД.</a:t>
            </a:r>
          </a:p>
          <a:p xmlns:a="http://schemas.openxmlformats.org/drawingml/2006/main">
            <a:r>
              <a:t>Сумма: 1214,5 часа.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Помесячные часы рассчитаны по closed_on в CSV.</a:t>
            </a:r>
          </a:p>
          <a:p xmlns:a="http://schemas.openxmlformats.org/drawingml/2006/main">
            <a:r>
              <a:t>Пик в августе: 269 часов, 11 задач. Март: 181 час, 8 задач. Июль: 144 часа, 9 задач.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ФРГУ 3.0: 158 часов. ЕПГУ: 88 часов. СМЭВ 3: 8 часов. Анализ MAX: 2 часа.</a:t>
            </a:r>
          </a:p>
          <a:p xmlns:a="http://schemas.openxmlformats.org/drawingml/2006/main">
            <a:r>
              <a:t>Сумма совпадает с проектом Redmine: 256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Требования: 44 часа (#119436, #119437, #120152).</a:t>
            </a:r>
          </a:p>
          <a:p xmlns:a="http://schemas.openxmlformats.org/drawingml/2006/main">
            <a:r>
              <a:t>Тестирование и анализ версий: 109 часов (#120522, #120817, #121484, #123632).</a:t>
            </a:r>
          </a:p>
          <a:p xmlns:a="http://schemas.openxmlformats.org/drawingml/2006/main">
            <a:r>
              <a:t>Постановка задач back/front: 49 часов (#123219, #124444).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не считает все MAX-задачи, а показывает 8 ключевых работ.</a:t>
            </a:r>
          </a:p>
          <a:p xmlns:a="http://schemas.openxmlformats.org/drawingml/2006/main">
            <a:r>
              <a:t>Сумма указанных задач: 238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СБП ФК: 75 часов. МИЗО: 44 часа. Курьерский модуль: 36 часов. Доступность сайтов: 32 часа. ФССП: 27 часов.</a:t>
            </a:r>
          </a:p>
          <a:p xmlns:a="http://schemas.openxmlformats.org/drawingml/2006/main">
            <a:r>
              <a:t>Задачи между пакетами не пересекаются.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Левая колонка: portfolio/work_integrix/assessment_report.pdf, 24.10.2025.</a:t>
            </a:r>
          </a:p>
          <a:p xmlns:a="http://schemas.openxmlformats.org/drawingml/2006/main">
            <a:r>
              <a:t>Правая колонка: задачи Redmine по ФРГУ 3.0, ЕПГУ, MAX, Re:Turn, СБП ФК.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обобщающий слайд. Каждый этап подкреплён задачами из выгрузки Redmine.</a:t>
            </a:r>
          </a:p>
          <a:p xmlns:a="http://schemas.openxmlformats.org/drawingml/2006/main">
            <a:r>
              <a:t>Не заявлять, что каждая задача проходила все четыре этапа; речь о суммарной роли в портфеле.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предлагаемые, а не утверждённые цели.</a:t>
            </a:r>
          </a:p>
          <a:p xmlns:a="http://schemas.openxmlformats.org/drawingml/2006/main">
            <a:r>
              <a:t>На ассесменте уточнить приоритеты и критерии успеха.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Завершить основным выводом: за год увеличился масштаб задач и глубина участия в их жизненном цикле.</a:t>
            </a:r>
          </a:p>
          <a:p xmlns:a="http://schemas.openxmlformats.org/drawingml/2006/main">
            <a:r>
              <a:t>Фоновое изображение взято из предыдущей презентации Антона Курганского от 13.08.2026.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78a6b7b9f42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6243904d3a46e0" /><Relationship Type="http://schemas.openxmlformats.org/officeDocument/2006/relationships/slideLayout" Target="/ppt/slideLayouts/slideLayout1.xml" Id="Rb9f93bb07d3d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f93bb07d3d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20cf4890a4e4e" /><Relationship Type="http://schemas.openxmlformats.org/officeDocument/2006/relationships/notesSlide" Target="/ppt/notesSlides/notesSlide1.xml" Id="Rd0c530812e3441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c369a0c5146d3" /><Relationship Type="http://schemas.openxmlformats.org/officeDocument/2006/relationships/notesSlide" Target="/ppt/notesSlides/notesSlide2.xml" Id="Rd38ca00f30704b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844c32b324f36" /><Relationship Type="http://schemas.openxmlformats.org/officeDocument/2006/relationships/chart" Target="/ppt/slides/charts/chart1.xml" Id="R9494a61ef45c4e24" /><Relationship Type="http://schemas.openxmlformats.org/officeDocument/2006/relationships/notesSlide" Target="/ppt/notesSlides/notesSlide3.xml" Id="R2d7e8bbc4d9b41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bb54790a74669" /><Relationship Type="http://schemas.openxmlformats.org/officeDocument/2006/relationships/chart" Target="/ppt/slides/charts/chart2.xml" Id="R0e2794d24b84464e" /><Relationship Type="http://schemas.openxmlformats.org/officeDocument/2006/relationships/notesSlide" Target="/ppt/notesSlides/notesSlide4.xml" Id="R552b6597d93340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1997a6bb94a9d" /><Relationship Type="http://schemas.openxmlformats.org/officeDocument/2006/relationships/chart" Target="/ppt/slides/charts/chart3.xml" Id="R95c80a0178bf42b9" /><Relationship Type="http://schemas.openxmlformats.org/officeDocument/2006/relationships/notesSlide" Target="/ppt/notesSlides/notesSlide5.xml" Id="Rb409170ef83344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a48ef39514542" /><Relationship Type="http://schemas.openxmlformats.org/officeDocument/2006/relationships/chart" Target="/ppt/slides/charts/chart4.xml" Id="R4076ca988d1a433b" /><Relationship Type="http://schemas.openxmlformats.org/officeDocument/2006/relationships/notesSlide" Target="/ppt/notesSlides/notesSlide6.xml" Id="R160a64e0e7cf4f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5072fadb345f5" /><Relationship Type="http://schemas.openxmlformats.org/officeDocument/2006/relationships/notesSlide" Target="/ppt/notesSlides/notesSlide7.xml" Id="R3597c34aa4f342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c217ab28e4610" /><Relationship Type="http://schemas.openxmlformats.org/officeDocument/2006/relationships/chart" Target="/ppt/slides/charts/chart5.xml" Id="Rd4ff6c5615c64f73" /><Relationship Type="http://schemas.openxmlformats.org/officeDocument/2006/relationships/notesSlide" Target="/ppt/notesSlides/notesSlide8.xml" Id="R8bec6a6b75e343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2306246aa43ba" /><Relationship Type="http://schemas.openxmlformats.org/officeDocument/2006/relationships/notesSlide" Target="/ppt/notesSlides/notesSlide9.xml" Id="R17a7a339975544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a50808027441d" /><Relationship Type="http://schemas.openxmlformats.org/officeDocument/2006/relationships/notesSlide" Target="/ppt/notesSlides/notesSlide10.xml" Id="R34e7202cd1314a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53d144d4b4c48" /><Relationship Type="http://schemas.openxmlformats.org/officeDocument/2006/relationships/notesSlide" Target="/ppt/notesSlides/notesSlide11.xml" Id="R2c5cf5d1776e42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83b6cffd04c5e" /><Relationship Type="http://schemas.openxmlformats.org/officeDocument/2006/relationships/image" Target="/ppt/media/image.png" Id="Rd45c38438f294930" /><Relationship Type="http://schemas.openxmlformats.org/officeDocument/2006/relationships/notesSlide" Target="/ppt/notesSlides/notesSlide12.xml" Id="Rf9b37b32adb84d0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7"/>
              <c:pt idx="0">
                <c:v>SALE · 23 задачи</c:v>
              </c:pt>
              <c:pt idx="1">
                <c:v>Тамбов · 12</c:v>
              </c:pt>
              <c:pt idx="2">
                <c:v>Re:Turn · 16</c:v>
              </c:pt>
              <c:pt idx="3">
                <c:v>Белгород · 16</c:v>
              </c:pt>
              <c:pt idx="4">
                <c:v>Кострома · 11</c:v>
              </c:pt>
              <c:pt idx="5">
                <c:v>MAX-боты · 5</c:v>
              </c:pt>
              <c:pt idx="6">
                <c:v>РСУД · 7</c:v>
              </c:pt>
            </c:strLit>
          </c:cat>
          <c:val>
            <c:numLit>
              <c:formatCode>0.#" ч"</c:formatCode>
              <c:ptCount val="7"/>
              <c:pt idx="0">
                <c:v>342</c:v>
              </c:pt>
              <c:pt idx="1">
                <c:v>256</c:v>
              </c:pt>
              <c:pt idx="2">
                <c:v>202</c:v>
              </c:pt>
              <c:pt idx="3">
                <c:v>148</c:v>
              </c:pt>
              <c:pt idx="4">
                <c:v>136</c:v>
              </c:pt>
              <c:pt idx="5">
                <c:v>91</c:v>
              </c:pt>
              <c:pt idx="6">
                <c:v>39.5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2"/>
              <c:pt idx="0">
                <c:v>окт'25</c:v>
              </c:pt>
              <c:pt idx="1">
                <c:v>ноя</c:v>
              </c:pt>
              <c:pt idx="2">
                <c:v>дек</c:v>
              </c:pt>
              <c:pt idx="3">
                <c:v>янв'26</c:v>
              </c:pt>
              <c:pt idx="4">
                <c:v>фев</c:v>
              </c:pt>
              <c:pt idx="5">
                <c:v>мар</c:v>
              </c:pt>
              <c:pt idx="6">
                <c:v>апр</c:v>
              </c:pt>
              <c:pt idx="7">
                <c:v>май</c:v>
              </c:pt>
              <c:pt idx="8">
                <c:v>июн</c:v>
              </c:pt>
              <c:pt idx="9">
                <c:v>июл</c:v>
              </c:pt>
              <c:pt idx="10">
                <c:v>авг</c:v>
              </c:pt>
              <c:pt idx="11">
                <c:v>сен</c:v>
              </c:pt>
            </c:strLit>
          </c:cat>
          <c:val>
            <c:numLit>
              <c:formatCode>0.#</c:formatCode>
              <c:ptCount val="12"/>
              <c:pt idx="0">
                <c:v>12</c:v>
              </c:pt>
              <c:pt idx="1">
                <c:v>68</c:v>
              </c:pt>
              <c:pt idx="2">
                <c:v>66</c:v>
              </c:pt>
              <c:pt idx="3">
                <c:v>87</c:v>
              </c:pt>
              <c:pt idx="4">
                <c:v>67</c:v>
              </c:pt>
              <c:pt idx="5">
                <c:v>181</c:v>
              </c:pt>
              <c:pt idx="6">
                <c:v>71.5</c:v>
              </c:pt>
              <c:pt idx="7">
                <c:v>91</c:v>
              </c:pt>
              <c:pt idx="8">
                <c:v>128</c:v>
              </c:pt>
              <c:pt idx="9">
                <c:v>144</c:v>
              </c:pt>
              <c:pt idx="10">
                <c:v>269</c:v>
              </c:pt>
              <c:pt idx="11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DD8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ФРГУ 3.0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158</c:v>
              </c:pt>
            </c:numLit>
          </c:val>
        </c:ser>
        <c:ser>
          <c:idx val="1"/>
          <c:order val="1"/>
          <c:tx>
            <c:v>ЕПГУ</c:v>
          </c:tx>
          <c:spPr>
            <a:solidFill xmlns:a="http://schemas.openxmlformats.org/drawingml/2006/main">
              <a:srgbClr val="4B9C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88</c:v>
              </c:pt>
            </c:numLit>
          </c:val>
        </c:ser>
        <c:ser>
          <c:idx val="2"/>
          <c:order val="2"/>
          <c:tx>
            <c:v>СМЭВ 3</c:v>
          </c:tx>
          <c:spPr>
            <a:solidFill xmlns:a="http://schemas.openxmlformats.org/drawingml/2006/main">
              <a:srgbClr val="A8CE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8</c:v>
              </c:pt>
            </c:numLit>
          </c:val>
        </c:ser>
        <c:ser>
          <c:idx val="3"/>
          <c:order val="3"/>
          <c:tx>
            <c:v>MAX</c:v>
          </c:tx>
          <c:spPr>
            <a:solidFill xmlns:a="http://schemas.openxmlformats.org/drawingml/2006/main">
              <a:srgbClr val="D7E9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56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Требования</c:v>
          </c:tx>
          <c:spPr>
            <a:solidFill xmlns:a="http://schemas.openxmlformats.org/drawingml/2006/main">
              <a:srgbClr val="A8CEFF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44</c:v>
              </c:pt>
            </c:numLit>
          </c:val>
        </c:ser>
        <c:ser>
          <c:idx val="1"/>
          <c:order val="1"/>
          <c:tx>
            <c:v>Тестирование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109</c:v>
              </c:pt>
            </c:numLit>
          </c:val>
        </c:ser>
        <c:ser>
          <c:idx val="2"/>
          <c:order val="2"/>
          <c:tx>
            <c:v>Задачи back/front</c:v>
          </c:tx>
          <c:spPr>
            <a:solidFill xmlns:a="http://schemas.openxmlformats.org/drawingml/2006/main">
              <a:srgbClr val="4B9CFF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56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5"/>
              <c:pt idx="0">
                <c:v>СБП ФК · 4 задачи</c:v>
              </c:pt>
              <c:pt idx="1">
                <c:v>Услуги МИЗО · 4</c:v>
              </c:pt>
              <c:pt idx="2">
                <c:v>Курьерский модуль · 2</c:v>
              </c:pt>
              <c:pt idx="3">
                <c:v>Доступность сайтов · 2</c:v>
              </c:pt>
              <c:pt idx="4">
                <c:v>ФССП · 3</c:v>
              </c:pt>
            </c:strLit>
          </c:cat>
          <c:val>
            <c:numLit>
              <c:formatCode>0" ч"</c:formatCode>
              <c:ptCount val="5"/>
              <c:pt idx="0">
                <c:v>75</c:v>
              </c:pt>
              <c:pt idx="1">
                <c:v>44</c:v>
              </c:pt>
              <c:pt idx="2">
                <c:v>36</c:v>
              </c:pt>
              <c:pt idx="3">
                <c:v>32</c:v>
              </c:pt>
              <c:pt idx="4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7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8C568-4134-463D-B5F8-4C66219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6D760-BF05-4A19-92B4-C67B4E66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4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АССЕСМЕНТ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FB684-9894-407E-B90B-CA5C82DC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0512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Результаты работы с 25.10.2025 по 22.09.2026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45C34-0555-47DE-8901-444693F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3855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Антон Курганский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Системный аналитик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7D091-56C6-46E2-B232-DCC2E571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24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BFF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DCEBFF"/>
                </a:solidFill>
                <a:latin typeface="Lato"/>
                <a:ea typeface="Lato"/>
                <a:cs typeface="Lato"/>
              </a:rPr>
              <a:t>25 сентября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93631-5778-4CF0-998C-0779E401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9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 u="sng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650" b="1" u="sng">
                <a:solidFill>
                  <a:srgbClr val="FFFFFF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</p:spTree>
    <p:extLst>
      <p:ext uri="{BB962C8B-B14F-4D97-AF65-F5344CB8AC3E}">
        <p14:creationId xmlns:p14="http://schemas.microsoft.com/office/powerpoint/2010/main" val="228843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D7CB0-F1E6-4E86-8640-1FF2090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Год в цифрах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C2899-DBA4-437A-AB4A-22ADC560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Закрытые задачи и списанные трудозатраты после ассесмента 2025 года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E1DD-56C8-4AD7-BDDE-4447D280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53112-6D2A-460A-8FBF-145A8C44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259AB-C1F3-4BE4-A22E-9009FFC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C0E2C-774D-471F-9EAA-6AAFECF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91022-9F2A-4990-9BF7-563CB536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закрытые</a:t>
            </a:r>
          </a:p>
          <a:p xmlns:a="http://schemas.openxmlformats.org/drawingml/2006/main">
            <a:pPr algn="ctr"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A403D-EB42-44A9-9839-C90E30C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1 214,5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7C0AB-41A8-4DFF-9EEB-98D4FA0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71825"/>
            <a:ext cx="232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часа</a:t>
            </a:r>
          </a:p>
          <a:p xmlns:a="http://schemas.openxmlformats.org/drawingml/2006/main">
            <a:pPr algn="ctr"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по Redmine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5D251-62DA-43EA-B4F8-159A14A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953A4-D6D5-417F-8E0E-24B24CF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проектов</a:t>
            </a:r>
          </a:p>
          <a:p xmlns:a="http://schemas.openxmlformats.org/drawingml/2006/main">
            <a:pPr algn="ctr"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и направлений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ADBE1-CDC3-4DFE-91B1-E67C3F68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5B265-CD9C-425E-AF78-8BF1E14F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71825"/>
            <a:ext cx="2276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региона</a:t>
            </a:r>
          </a:p>
          <a:p xmlns:a="http://schemas.openxmlformats.org/drawingml/2006/main">
            <a:pPr algn="ctr"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Белгород, Кострома, Тамбов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140DF-31BC-4410-AE2A-AA2F652E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C6F8A-A24E-4653-A3FD-4C57CE4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0F58B-A974-44AD-92B3-396C8CA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992E-DF60-4346-96A5-5537AC0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В презентацию включены только задачи со статусом «Закрыта». Две отклонённые задачи исключены.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E6D5A-CB7E-4294-8503-A16F3CF0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выгрузка на 22.09.2026</a:t>
            </a:r>
          </a:p>
        </p:txBody>
      </p:sp>
    </p:spTree>
    <p:extLst>
      <p:ext uri="{BB962C8B-B14F-4D97-AF65-F5344CB8AC3E}">
        <p14:creationId xmlns:p14="http://schemas.microsoft.com/office/powerpoint/2010/main" val="1517077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A9F07-7FC7-4EA9-8D4E-6DCB6D2E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Портфель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E77EA-AC8E-4186-82AD-8693F5F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Трудозатраты по группам проектов, часы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EED99-CDAE-4639-A2E2-24139478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DA181-9B2D-4CF0-9BD8-737B1DDD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5250B-72AB-44E5-B2C3-4037F2FC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095375" y="1428750"/>
          <a:ext xmlns:a="http://schemas.openxmlformats.org/drawingml/2006/main" cx="10001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94a61ef45c4e2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74B5B-4DC3-4FE2-A9C8-473220A8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Ещё 3 закрытые задачи без списаний учтены в INT, INV и RDC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71519-CF7E-49D0-8B5F-848B6BF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Группировка по проектам Redmine</a:t>
            </a:r>
          </a:p>
        </p:txBody>
      </p:sp>
    </p:spTree>
    <p:extLst>
      <p:ext uri="{BB962C8B-B14F-4D97-AF65-F5344CB8AC3E}">
        <p14:creationId xmlns:p14="http://schemas.microsoft.com/office/powerpoint/2010/main" val="2043704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B40F9-55F3-4D8F-B248-894979E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Динамика трудозатрат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26540-EB15-41AD-B1BD-BFEA15B5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Списанные часы по месяцу закрытия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64BAF-5B18-4C4E-92B3-1231958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00187-A5C8-4884-BA48-E4CFDBBF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DF290-0599-4D6F-A6B3-852EABD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108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2794d24b84464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66DE9-6D40-451D-AAA9-3E2D193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Март, июль и август сочетали аналитику, проектирование, постановку задач и проверку реализации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23638-0DB6-46E1-A0A3-B5227125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93 закрытые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652864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6054A-8709-4266-8C17-FBA798E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ФРГУ 3.0 и запись в МФЦ через ЕПГУ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03342-5414-4768-B0E6-F80490BE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Самое крупное региональное направление: 12 задач, 256 часов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70A1F-ECF3-4A3B-AABF-2660899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0BE8E-3023-48EA-A121-80DD00E7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96DD9-A174-4555-92B0-62D5D64E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6477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c80a0178bf42b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F956E-DD89-4EDA-A927-07DA5CC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256 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49662-CEC3-4677-88D0-1581535B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76500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Сравнение моделей ФРГУ-1 и ФРГУ-3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Целевая модель Re:Doc и сценарии паспорта услуги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Микросервис для записи в МФЦ через ЕПГУ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Проверенный рабочий сценарий сборки паспорта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7AFBB-3131-42E8-92D7-ABB368FA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Задачи: #124745, #125091, #125229, #125520–#125525, #126049, #127787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343E0-47E3-468A-93DD-2F8A5F3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проект «Тамбов — Поддержка АИС МФЦ 2026»</a:t>
            </a:r>
          </a:p>
        </p:txBody>
      </p:sp>
    </p:spTree>
    <p:extLst>
      <p:ext uri="{BB962C8B-B14F-4D97-AF65-F5344CB8AC3E}">
        <p14:creationId xmlns:p14="http://schemas.microsoft.com/office/powerpoint/2010/main" val="1065628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A49CF-78BF-4BD0-A616-34FBFDF6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Re:Turn: электронная очередь 3.0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58405-681B-468F-9A62-8A68A7A6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Полный цикл: от требований к тестированию и постановке задач на доработку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2E255-DE84-4184-9346-0691A6C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5DB83-26B1-4D3D-90FA-CB95AFB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1B7AA-7A77-4A92-AEDA-3CAF22E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657225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76ca988d1a433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BBFDB-504D-4FEF-915F-F1B552A5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202 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4DC80-5218-42B0-95B3-4C1141B5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Админка и пульт оператора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Полный цикл: пульт, терминалы, мониторы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Актуализация требований по результатам тестов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Декомпозиция доработок для back-end и front-end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FDB3C-B81D-4C93-BDB3-16C0D6F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Ключевые задачи: #119436, #119437, #120152, #121484, #123632, #124444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D3536-1EFC-4F95-A47A-6FB55010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проект «Электронная очередь 3.0»</a:t>
            </a:r>
          </a:p>
        </p:txBody>
      </p:sp>
    </p:spTree>
    <p:extLst>
      <p:ext uri="{BB962C8B-B14F-4D97-AF65-F5344CB8AC3E}">
        <p14:creationId xmlns:p14="http://schemas.microsoft.com/office/powerpoint/2010/main" val="811304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87B1A-FB0C-4654-9238-144E807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MAX-боты: архитектура, API и прототипы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A732D-7DB6-416D-A5E0-42F19343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8 ключевых задач на 238 часов; в слайде показаны самые крупные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96DFF-FAAB-4FED-A221-985FBF8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6996-A42B-41A3-8D15-908A16FF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ED172-9497-44DD-9BFC-D6AF67F2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2C005-648A-483E-8E7F-FA09ED33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00F63-0B82-4B29-A03A-5E832C6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АРХИТЕКТУРА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25CB3-40BC-40F4-9FE0-C34C539C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C#-микросервис MAX</a:t>
            </a:r>
          </a:p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Приём запросов в Re:Doc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21D1A-CDC9-422B-87E7-BAFE89F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#120201 · 80 ч</a:t>
            </a:r>
          </a:p>
          <a:p xmlns:a="http://schemas.openxmlformats.org/drawingml/2006/main">
            <a:pPr algn="l"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#120202 · 11 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7F78A-707E-46A9-8117-397ADA9E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5F97B-5E3C-4D50-A627-0A3345B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61344-9853-444A-97B0-73CA4D80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API И 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2BDFB-3EDD-4DF5-B775-BDD80A5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Запросы с данными и файлами</a:t>
            </a:r>
          </a:p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Досылка текста и файлов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F7689-1B04-4400-B624-C524A2C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00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#122043 · 16 ч</a:t>
            </a:r>
          </a:p>
          <a:p xmlns:a="http://schemas.openxmlformats.org/drawingml/2006/main">
            <a:pPr algn="l"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#122404 · 24 ч</a:t>
            </a:r>
          </a:p>
          <a:p xmlns:a="http://schemas.openxmlformats.org/drawingml/2006/main">
            <a:pPr algn="l"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#123461 · 24 ч</a:t>
            </a:r>
          </a:p>
          <a:p xmlns:a="http://schemas.openxmlformats.org/drawingml/2006/main">
            <a:pPr algn="l"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#124680 · 11 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82AFE-5D83-4825-9352-CBA242C4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99D75-FA5A-4ECE-B39B-5E4661B5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9030A-7279-48FC-8687-9BF4861F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ПРОТОТИП И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2C9BE-B5C9-4FD4-A081-F7D6A165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Прототип чат-бота для ЧАО</a:t>
            </a:r>
          </a:p>
          <a:p xmlns:a="http://schemas.openxmlformats.org/drawingml/2006/main">
            <a:pPr algn="l"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Стенд MAX + ПЗ + ЭО + Re:Doc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CCF39-8CED-4E6C-B084-56687E5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#127199 · 40 ч</a:t>
            </a:r>
          </a:p>
          <a:p xmlns:a="http://schemas.openxmlformats.org/drawingml/2006/main">
            <a:pPr algn="l"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#127372 · 32 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ECD6F-8F6C-4128-83A4-4302FDB2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Результат: переход от анализа к архитектуре, API-контрактам и демонстрируемым прототипам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A2950-4222-4470-88D9-AE87DB10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Redmine; часы только по указанным задачам</a:t>
            </a:r>
          </a:p>
        </p:txBody>
      </p:sp>
    </p:spTree>
    <p:extLst>
      <p:ext uri="{BB962C8B-B14F-4D97-AF65-F5344CB8AC3E}">
        <p14:creationId xmlns:p14="http://schemas.microsoft.com/office/powerpoint/2010/main" val="1485287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A4257-27B9-483E-9C8D-B2B9C33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Продуктивные интеграции и региональные изменения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12992-87B2-4006-B530-2AC6D6F1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Пять пакетов работ с измеримыми трудозатратами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B5A88-862B-4A6D-8AF0-B1EBFD45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841CA-E421-41B2-9FA1-3C2C09B2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E8C0-14B7-4AE2-ABA9-B90AAE1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000125" y="1524000"/>
          <a:ext xmlns:a="http://schemas.openxmlformats.org/drawingml/2006/main" cx="10191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ff6c5615c64f7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4D2F-ABEC-4BAF-B6A6-A17630E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В этих работах сочетались анализ, требования, настройка стендов и проверка работы в контрольной и продуктивной среде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D199-4509-44C2-B37F-ED7C5604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Задачи: СБП #122773, #123347, #124529, #126845; МИЗО #112814, #115509, #115733, #116026; и др.</a:t>
            </a:r>
          </a:p>
        </p:txBody>
      </p:sp>
    </p:spTree>
    <p:extLst>
      <p:ext uri="{BB962C8B-B14F-4D97-AF65-F5344CB8AC3E}">
        <p14:creationId xmlns:p14="http://schemas.microsoft.com/office/powerpoint/2010/main" val="827795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96940-B73C-430C-844C-F3CE5C7A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Рост роли системного аналитика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B15AE-0956-45F8-8C64-EF730DF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Сравнение с прошлым ассесментом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65559-8D09-4B02-A921-5A36A4C5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19CEB-CF1E-4920-B584-027E51AE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FE384-244C-4F8F-8954-3F916DC0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84CBA-17B0-40F2-8E01-44D32BD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ОКТЯБРЬ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2F4D8-5485-4976-8378-12383E4C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Конфигурирование и поддержка услуг АИС МФЦ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XML/XSD и печатные формы Re:Doc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Анализ обращений и точечные доработки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Интеграционное тестирование СМЭВ и ФССП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66D9A-EE6A-41B9-AD0C-D5C83203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D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D51E8-2F01-4650-A4BE-1F662B2B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СЕНТЯБРЬ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2A8B7-6343-4FBC-8983-0538FBBB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Целевые модели данных и сценарии ФРГУ 3.0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Архитектура C#-микросервисов и API-контракты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Постановка задач back-end и front-end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Сквозное тестирование и вывод в продуктив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Пресейл, демостенды и прототипы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090EA-A6AE-4C3A-AA2E-2EB90A02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2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Главное изменение: от точечных доработок к ведению крупных сценариев от требований до проверки реализации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D27ED-7A59-4C69-A212-2A2519D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Источники: assessment_report.pdf и выгрузка Redmine 2025–2026</a:t>
            </a:r>
          </a:p>
        </p:txBody>
      </p:sp>
    </p:spTree>
    <p:extLst>
      <p:ext uri="{BB962C8B-B14F-4D97-AF65-F5344CB8AC3E}">
        <p14:creationId xmlns:p14="http://schemas.microsoft.com/office/powerpoint/2010/main" val="1063166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5B8D5-3CE9-4C29-8073-9E413474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Вклад в полный цикл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39239-A3C9-4E8D-983B-C5B6D8C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От исходной проблемы до проверенного сценария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DB995-51F3-431C-8110-3538F31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02307-E598-47A5-A320-422D4F4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58030-9721-48AD-A038-83F991F9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C4497-08BA-4778-BE27-B7F29B8A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7C829-98F9-499A-BF8D-1C4FB8C7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АНАЛИЗ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A2E34-4D9A-4439-B0F8-1009E51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Документация ЕПГУ</a:t>
            </a:r>
          </a:p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ФРГУ 3.0</a:t>
            </a:r>
          </a:p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Доступность сайтов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0AF94-BF8D-4BFB-ACE2-2DF89594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F6115-C102-484F-A8F6-6D28FE8B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49EE0-78B1-439F-AF6A-E41711D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ПРОЕКТИРОВАНИЕ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76024-43C0-42BA-B0B4-4065E24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Модели данных</a:t>
            </a:r>
          </a:p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Сценарии услуг</a:t>
            </a:r>
          </a:p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Микросервисы и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8CE4A-2BC7-4D78-AFA4-DDE0C122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B95F1-A68F-4FC6-B263-0F74582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403B5-EF87-4C23-858B-ABF27621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ПОСТАНОВКА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257D2-A56D-4803-8E1E-CE0FED4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 back-end</a:t>
            </a:r>
          </a:p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 front-end</a:t>
            </a:r>
          </a:p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Консультации команды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35FB8-DE0C-4377-949A-777F527B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991A0-5CE7-4F78-82CA-2135F86B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7FC8A-2A15-4C5F-8B3A-7C174D1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4A82A-623F-4C90-9136-B84DB136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Re:Turn</a:t>
            </a:r>
          </a:p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СБП ФК</a:t>
            </a:r>
          </a:p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ФССП и МИЗО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ED574-26A1-4CBE-B061-DEBB8A8C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Моя зона ответственности расширилась: теперь я связываю бизнес-контекст, техническое решение и приёмку результата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74292-0BC9-4E5D-92BE-08FD42B8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Примеры: ФРГУ 3.0, ЕПГУ, MAX, Re:Turn, СБП ФК</a:t>
            </a:r>
          </a:p>
        </p:txBody>
      </p:sp>
    </p:spTree>
    <p:extLst>
      <p:ext uri="{BB962C8B-B14F-4D97-AF65-F5344CB8AC3E}">
        <p14:creationId xmlns:p14="http://schemas.microsoft.com/office/powerpoint/2010/main" val="205616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21E51-2CF6-4D6B-8041-1A9260A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Фокус следующего периода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66D85-D8ED-48FC-A932-09B9BA9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Предлагаемые цели до следующего ассесмента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3790F-0922-476D-B3F8-4B3C9881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1C2B6-B232-4093-8EB3-A8B5AB5B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AFA1B-FE9F-4B15-82D3-EC3E6E0C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AEF2A-6FA8-44D5-BD7D-85C50CB8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52132-8EEC-4E8C-B702-802D90E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ФРГУ 3.0 и ЕПГУ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8B5B7-90E9-46DD-BDC8-5C84E44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Довести целевые сценарии до пилота и формальной приёмки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E4493-22CF-41B1-9599-13E9CC36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56CF4-4136-420B-BA3F-0772A34E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43081-82BB-4670-934B-CB134E19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90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MAX-боты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5D45E-CDCE-46E1-8206-21E239CF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Зафиксировать повторно используемую архитектуру, API-контракты и типовые сценарии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1027E-1D89-4F12-B233-22A5A22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A029A-C6AC-41BB-8727-D445E8E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57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65249-D3BB-4AA2-86F4-1D7A084E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Re:Turn и СБП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C55C2-5323-4397-A6BF-C827C9B6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57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Добавить измеримые критерии приёмки и метрики продуктивной эксплуатации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A9E9-0428-4FC7-89D1-4E1DBE3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A711C-D3EE-419B-88AE-27A5577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244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D2108-9C40-4D30-BA33-E8844CFF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Трассируемость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E9360-2127-4664-BB9A-4CD98BED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244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Связать требование, задачу на разработку, тест и принятый 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37877-67FF-46B1-AB2A-280ED8E2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Цель: сделать результаты аналитики не только выполненными, но и повторно используемыми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FE55B-22D8-44FA-A3DD-E91EA2DC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План на следующий период; требует согласования с руководителем</a:t>
            </a:r>
          </a:p>
        </p:txBody>
      </p:sp>
    </p:spTree>
    <p:extLst>
      <p:ext uri="{BB962C8B-B14F-4D97-AF65-F5344CB8AC3E}">
        <p14:creationId xmlns:p14="http://schemas.microsoft.com/office/powerpoint/2010/main" val="12775761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c38438f2949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B81B7-8BEA-48C9-8C3A-77599C5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B9CFF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4B9CFF"/>
                </a:solidFill>
                <a:latin typeface="Lato"/>
                <a:ea typeface="Lato"/>
                <a:cs typeface="Lato"/>
              </a:rPr>
              <a:t>ИТОГ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0D2AC-BC2D-44BA-80C1-6BEE7CC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049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D7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862F4-A9DA-44C2-ACD5-9C60617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048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Роль системного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аналитика расширилась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до полного цикла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A5C3F-1A22-4595-B324-06F07A63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A8CEFF"/>
                </a:solidFill>
                <a:latin typeface="Lato"/>
                <a:ea typeface="Lato"/>
                <a:cs typeface="Lato"/>
              </a:rPr>
              <a:t>93 задачи · 1 214,5 часа · 3 региона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A3695-6E18-42C1-9D71-8F8CF57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576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8FF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D8E8FF"/>
                </a:solidFill>
                <a:latin typeface="Lato"/>
                <a:ea typeface="Lato"/>
                <a:cs typeface="Lato"/>
              </a:rPr>
              <a:t>Требования, модели данных, API,</a:t>
            </a:r>
          </a:p>
          <a:p xmlns:a="http://schemas.openxmlformats.org/drawingml/2006/main">
            <a:pPr algn="l">
              <a:defRPr sz="1650" b="0">
                <a:solidFill>
                  <a:srgbClr val="D8E8FF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D8E8FF"/>
                </a:solidFill>
                <a:latin typeface="Lato"/>
                <a:ea typeface="Lato"/>
                <a:cs typeface="Lato"/>
              </a:rPr>
              <a:t>задачи на разработку и приёмка результата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1364D-576F-4D5D-B979-BC1B52F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u="sng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500" b="1" u="sng">
                <a:solidFill>
                  <a:srgbClr val="FFFFFF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</p:spTree>
    <p:extLst>
      <p:ext uri="{BB962C8B-B14F-4D97-AF65-F5344CB8AC3E}">
        <p14:creationId xmlns:p14="http://schemas.microsoft.com/office/powerpoint/2010/main" val="1002664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2026-09-22T12:41:53.7300000Z</dcterms:created>
  <dcterms:modified xsi:type="dcterms:W3CDTF">2026-09-22T12:41:53.7300000Z</dcterms:modified>
</coreProperties>
</file>