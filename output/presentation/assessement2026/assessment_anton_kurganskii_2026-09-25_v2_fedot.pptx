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4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5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3f52b52db7456d" /><Relationship Type="http://schemas.openxmlformats.org/officeDocument/2006/relationships/extended-properties" Target="/docProps/app.xml" Id="R0b44be0b94624a8b" /><Relationship Type="http://schemas.openxmlformats.org/officeDocument/2006/relationships/officeDocument" Target="/ppt/presentation.xml" Id="Rb4811a0de5244f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648bcc28284c6b"/>
  </p:sldMasterIdLst>
  <p:notesMasterIdLst>
    <p:notesMasterId xmlns:r="http://schemas.openxmlformats.org/officeDocument/2006/relationships" r:id="Rfafdade68f2c4cba"/>
  </p:notesMasterIdLst>
  <p:sldIdLst>
    <p:sldId xmlns:r="http://schemas.openxmlformats.org/officeDocument/2006/relationships" id="256" r:id="Ra633ea0fc28140d9"/>
    <p:sldId xmlns:r="http://schemas.openxmlformats.org/officeDocument/2006/relationships" id="257" r:id="Rd5cab385a5024b53"/>
    <p:sldId xmlns:r="http://schemas.openxmlformats.org/officeDocument/2006/relationships" id="258" r:id="Rd4f9a70bf26b4685"/>
    <p:sldId xmlns:r="http://schemas.openxmlformats.org/officeDocument/2006/relationships" id="259" r:id="Reeab1c0b6e374d13"/>
    <p:sldId xmlns:r="http://schemas.openxmlformats.org/officeDocument/2006/relationships" id="260" r:id="Rda2ec111212548d2"/>
    <p:sldId xmlns:r="http://schemas.openxmlformats.org/officeDocument/2006/relationships" id="261" r:id="R5de657e8af88420d"/>
    <p:sldId xmlns:r="http://schemas.openxmlformats.org/officeDocument/2006/relationships" id="262" r:id="R7d8b5b709624433a"/>
    <p:sldId xmlns:r="http://schemas.openxmlformats.org/officeDocument/2006/relationships" id="263" r:id="Rae33bfc404d446c4"/>
    <p:sldId xmlns:r="http://schemas.openxmlformats.org/officeDocument/2006/relationships" id="264" r:id="R5b523e978e024075"/>
    <p:sldId xmlns:r="http://schemas.openxmlformats.org/officeDocument/2006/relationships" id="265" r:id="R83d0f9c20fee498f"/>
    <p:sldId xmlns:r="http://schemas.openxmlformats.org/officeDocument/2006/relationships" id="266" r:id="Rd8b90a38028e4e18"/>
    <p:sldId xmlns:r="http://schemas.openxmlformats.org/officeDocument/2006/relationships" id="267" r:id="R8fe67abe0e084d74"/>
    <p:sldId xmlns:r="http://schemas.openxmlformats.org/officeDocument/2006/relationships" id="268" r:id="Re61fd27f899b4255"/>
    <p:sldId xmlns:r="http://schemas.openxmlformats.org/officeDocument/2006/relationships" id="269" r:id="R42bdb5507ae3472e"/>
    <p:sldId xmlns:r="http://schemas.openxmlformats.org/officeDocument/2006/relationships" id="270" r:id="Rd8d7ca7ca7c848c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984e872fa644bb" /><Relationship Type="http://schemas.openxmlformats.org/officeDocument/2006/relationships/slideMaster" Target="/ppt/slideMasters/slideMaster1.xml" Id="R6c648bcc28284c6b" /><Relationship Type="http://schemas.openxmlformats.org/officeDocument/2006/relationships/notesMaster" Target="/ppt/notesMasters/notesMaster1.xml" Id="Rfafdade68f2c4cba" /><Relationship Type="http://schemas.openxmlformats.org/officeDocument/2006/relationships/presProps" Target="/ppt/presProps.xml" Id="Rc0dcce39fe614610" /><Relationship Type="http://schemas.openxmlformats.org/officeDocument/2006/relationships/tableStyles" Target="/ppt/tableStyles.xml" Id="Rc46f15b809544319" /><Relationship Type="http://schemas.openxmlformats.org/officeDocument/2006/relationships/slide" Target="/ppt/slides/slide1.xml" Id="Ra633ea0fc28140d9" /><Relationship Type="http://schemas.openxmlformats.org/officeDocument/2006/relationships/slide" Target="/ppt/slides/slide2.xml" Id="Rd5cab385a5024b53" /><Relationship Type="http://schemas.openxmlformats.org/officeDocument/2006/relationships/slide" Target="/ppt/slides/slide3.xml" Id="Rd4f9a70bf26b4685" /><Relationship Type="http://schemas.openxmlformats.org/officeDocument/2006/relationships/slide" Target="/ppt/slides/slide4.xml" Id="Reeab1c0b6e374d13" /><Relationship Type="http://schemas.openxmlformats.org/officeDocument/2006/relationships/slide" Target="/ppt/slides/slide5.xml" Id="Rda2ec111212548d2" /><Relationship Type="http://schemas.openxmlformats.org/officeDocument/2006/relationships/slide" Target="/ppt/slides/slide6.xml" Id="R5de657e8af88420d" /><Relationship Type="http://schemas.openxmlformats.org/officeDocument/2006/relationships/slide" Target="/ppt/slides/slide7.xml" Id="R7d8b5b709624433a" /><Relationship Type="http://schemas.openxmlformats.org/officeDocument/2006/relationships/slide" Target="/ppt/slides/slide8.xml" Id="Rae33bfc404d446c4" /><Relationship Type="http://schemas.openxmlformats.org/officeDocument/2006/relationships/slide" Target="/ppt/slides/slide9.xml" Id="R5b523e978e024075" /><Relationship Type="http://schemas.openxmlformats.org/officeDocument/2006/relationships/slide" Target="/ppt/slides/slide10.xml" Id="R83d0f9c20fee498f" /><Relationship Type="http://schemas.openxmlformats.org/officeDocument/2006/relationships/slide" Target="/ppt/slides/slide11.xml" Id="Rd8b90a38028e4e18" /><Relationship Type="http://schemas.openxmlformats.org/officeDocument/2006/relationships/slide" Target="/ppt/slides/slide12.xml" Id="R8fe67abe0e084d74" /><Relationship Type="http://schemas.openxmlformats.org/officeDocument/2006/relationships/slide" Target="/ppt/slides/slide13.xml" Id="Re61fd27f899b4255" /><Relationship Type="http://schemas.openxmlformats.org/officeDocument/2006/relationships/slide" Target="/ppt/slides/slide14.xml" Id="R42bdb5507ae3472e" /><Relationship Type="http://schemas.openxmlformats.org/officeDocument/2006/relationships/slide" Target="/ppt/slides/slide15.xml" Id="Rd8d7ca7ca7c848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84e8e4847943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c2f62a9b654ed4" /><Relationship Type="http://schemas.openxmlformats.org/officeDocument/2006/relationships/notesMaster" Target="/ppt/notesMasters/notesMaster1.xml" Id="Rc70bc45b7cf546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d2faf6886f48b0" /><Relationship Type="http://schemas.openxmlformats.org/officeDocument/2006/relationships/notesMaster" Target="/ppt/notesMasters/notesMaster1.xml" Id="R68977c68d0994f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e591a3364794d93" /><Relationship Type="http://schemas.openxmlformats.org/officeDocument/2006/relationships/notesMaster" Target="/ppt/notesMasters/notesMaster1.xml" Id="R83cb43e04589483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3dd39f94ba42e7" /><Relationship Type="http://schemas.openxmlformats.org/officeDocument/2006/relationships/notesMaster" Target="/ppt/notesMasters/notesMaster1.xml" Id="R179bc8d000b4422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11683efe164716" /><Relationship Type="http://schemas.openxmlformats.org/officeDocument/2006/relationships/notesMaster" Target="/ppt/notesMasters/notesMaster1.xml" Id="Rdf33fd84d8e3494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d2a5abf27f4080" /><Relationship Type="http://schemas.openxmlformats.org/officeDocument/2006/relationships/notesMaster" Target="/ppt/notesMasters/notesMaster1.xml" Id="Ra81bcd44cc6f434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0f3a7fa762c4833" /><Relationship Type="http://schemas.openxmlformats.org/officeDocument/2006/relationships/notesMaster" Target="/ppt/notesMasters/notesMaster1.xml" Id="R74b8c9475eed421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9d144df86314ca2" /><Relationship Type="http://schemas.openxmlformats.org/officeDocument/2006/relationships/notesMaster" Target="/ppt/notesMasters/notesMaster1.xml" Id="R59476b0908844f4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5b58382446c4fa3" /><Relationship Type="http://schemas.openxmlformats.org/officeDocument/2006/relationships/notesMaster" Target="/ppt/notesMasters/notesMaster1.xml" Id="Ra727a3096c0c462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32ae6b698e24854" /><Relationship Type="http://schemas.openxmlformats.org/officeDocument/2006/relationships/notesMaster" Target="/ppt/notesMasters/notesMaster1.xml" Id="Re4bd946a638b457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88703f9e53e4003" /><Relationship Type="http://schemas.openxmlformats.org/officeDocument/2006/relationships/notesMaster" Target="/ppt/notesMasters/notesMaster1.xml" Id="Rdf015a4c7e2b468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fbf83d0e1664a80" /><Relationship Type="http://schemas.openxmlformats.org/officeDocument/2006/relationships/notesMaster" Target="/ppt/notesMasters/notesMaster1.xml" Id="Rcb5dc907eda24cf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28da122fd034629" /><Relationship Type="http://schemas.openxmlformats.org/officeDocument/2006/relationships/notesMaster" Target="/ppt/notesMasters/notesMaster1.xml" Id="R629eb1b75a044dc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0b42f61d8cd4d84" /><Relationship Type="http://schemas.openxmlformats.org/officeDocument/2006/relationships/notesMaster" Target="/ppt/notesMasters/notesMaster1.xml" Id="R04554a49f5a74ee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3e95304a8f34c60" /><Relationship Type="http://schemas.openxmlformats.org/officeDocument/2006/relationships/notesMaster" Target="/ppt/notesMasters/notesMaster1.xml" Id="R3d2f5bb036714e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Открыть выступление периодом от прошлого ассесмента до текущей даты.</a:t>
            </a:r>
          </a:p>
          <a:p xmlns:a="http://schemas.openxmlformats.org/drawingml/2006/main">
            <a:r>
              <a:t>Данные Redmine выгружены 22.09.2026. Последняя закрытая задача в выгрузке датируется 02.09.2026.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portfolio/work_integrix/tasks_after_assessment_2025-10-24.csv.</a:t>
            </a:r>
          </a:p>
          <a:p xmlns:a="http://schemas.openxmlformats.org/drawingml/2006/main">
            <a:r>
              <a:t>93 задачи со статусом «Закрыта», 1214,5 часа трудозатрат после 24.10.2025.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Группы не пересекаются: SALE 2025/2026, Тамбов 2026, Электронная очередь 3.0, Белгород поддержка+модернизация, Кострома поддержка, MAX АПК+ДЦР, РСУД.</a:t>
            </a:r>
          </a:p>
          <a:p xmlns:a="http://schemas.openxmlformats.org/drawingml/2006/main">
            <a:r>
              <a:t>Сумма: 1214,5 часа.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Помесячные часы рассчитаны по closed_on в CSV.</a:t>
            </a:r>
          </a:p>
          <a:p xmlns:a="http://schemas.openxmlformats.org/drawingml/2006/main">
            <a:r>
              <a:t>Пик в августе: 269 часов, 11 задач. Март: 181 час, 8 задач. Июль: 144 часа, 9 задач.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ФРГУ 3.0: 158 часов. ЕПГУ: 88 часов. СМЭВ 3: 8 часов. Анализ MAX: 2 часа.</a:t>
            </a:r>
          </a:p>
          <a:p xmlns:a="http://schemas.openxmlformats.org/drawingml/2006/main">
            <a:r>
              <a:t>Сумма совпадает с проектом Redmine: 256 часов.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Требования: 44 часа (#119436, #119437, #120152).</a:t>
            </a:r>
          </a:p>
          <a:p xmlns:a="http://schemas.openxmlformats.org/drawingml/2006/main">
            <a:r>
              <a:t>Тестирование и анализ версий: 109 часов (#120522, #120817, #121484, #123632).</a:t>
            </a:r>
          </a:p>
          <a:p xmlns:a="http://schemas.openxmlformats.org/drawingml/2006/main">
            <a:r>
              <a:t>Постановка задач back/front: 49 часов (#123219, #124444).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не считает все MAX-задачи, а показывает 8 ключевых работ.</a:t>
            </a:r>
          </a:p>
          <a:p xmlns:a="http://schemas.openxmlformats.org/drawingml/2006/main">
            <a:r>
              <a:t>Сумма указанных задач: 238 часов.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СБП ФК: 75 часов. МИЗО: 44 часа. Курьерский модуль: 36 часов. Доступность сайтов: 32 часа. ФССП: 27 часов.</a:t>
            </a:r>
          </a:p>
          <a:p xmlns:a="http://schemas.openxmlformats.org/drawingml/2006/main">
            <a:r>
              <a:t>Задачи между пакетами не пересекаются.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Левая колонка: portfolio/work_integrix/assessment_report.pdf, 24.10.2025.</a:t>
            </a:r>
          </a:p>
          <a:p xmlns:a="http://schemas.openxmlformats.org/drawingml/2006/main">
            <a:r>
              <a:t>Правая колонка: задачи Redmine по ФРГУ 3.0, ЕПГУ, MAX, Re:Turn, СБП ФК.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обобщающий слайд. Каждый этап подкреплён задачами из выгрузки Redmine.</a:t>
            </a:r>
          </a:p>
          <a:p xmlns:a="http://schemas.openxmlformats.org/drawingml/2006/main">
            <a:r>
              <a:t>Не заявлять, что каждая задача проходила все четыре этапа; речь о суммарной роли в портфеле.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Содержание подготовлено по материалам /Users/a.kurganskii/git/INT/fedot_bot/docs/presentation/Курганский_презентация_13.08.26.pptx, слайды 2–4.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Содержание и изображения подготовлены по материалам /Users/a.kurganskii/git/INT/fedot_bot/docs/presentation/Курганский_презентация_13.08.26.pptx. Использованы файлы Федот_пример_AI_поиск.png и Федот_пример_Mini_App.png.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Содержание и изображение подготовлены по материалам /Users/a.kurganskii/git/INT/fedot_bot/docs/presentation/Курганский_презентация_13.08.26.pptx, слайды 21–23. Использован файл Федот_пример_агент_скилл_тесты.png.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Номер слайда обновлён после добавления трёх слайдов о применении ИИ-инструментов.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Завершить основным выводом: за год увеличился масштаб задач и глубина участия в их жизненном цикле.</a:t>
            </a:r>
          </a:p>
          <a:p xmlns:a="http://schemas.openxmlformats.org/drawingml/2006/main">
            <a:r>
              <a:t>Фоновое изображение взято из предыдущей презентации Антона Курганского от 13.08.2026.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2ac46fb7b74f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87e5f0252148cc" /><Relationship Type="http://schemas.openxmlformats.org/officeDocument/2006/relationships/slideLayout" Target="/ppt/slideLayouts/slideLayout1.xml" Id="Rd0aa50518fd24c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aa50518fd24c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99f245c4094fc7" /><Relationship Type="http://schemas.openxmlformats.org/officeDocument/2006/relationships/notesSlide" Target="/ppt/notesSlides/notesSlide1.xml" Id="R269dcb7df9c540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659b7c27684123" /><Relationship Type="http://schemas.openxmlformats.org/officeDocument/2006/relationships/notesSlide" Target="/ppt/notesSlides/notesSlide2.xml" Id="R17e8b0142cb54f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d57294fc214d5d" /><Relationship Type="http://schemas.openxmlformats.org/officeDocument/2006/relationships/chart" Target="/ppt/slides/charts/chart1.xml" Id="R7838d16b0cc14596" /><Relationship Type="http://schemas.openxmlformats.org/officeDocument/2006/relationships/notesSlide" Target="/ppt/notesSlides/notesSlide3.xml" Id="R385c950f9c574a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6d448e6a524a4c" /><Relationship Type="http://schemas.openxmlformats.org/officeDocument/2006/relationships/chart" Target="/ppt/slides/charts/chart2.xml" Id="R0062eb9418764d42" /><Relationship Type="http://schemas.openxmlformats.org/officeDocument/2006/relationships/notesSlide" Target="/ppt/notesSlides/notesSlide4.xml" Id="R56454c2d19dd448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de59ab02f94ceb" /><Relationship Type="http://schemas.openxmlformats.org/officeDocument/2006/relationships/chart" Target="/ppt/slides/charts/chart3.xml" Id="Rb1f8c229df6240ff" /><Relationship Type="http://schemas.openxmlformats.org/officeDocument/2006/relationships/notesSlide" Target="/ppt/notesSlides/notesSlide5.xml" Id="R8799d4fb046f42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f4158402e44884" /><Relationship Type="http://schemas.openxmlformats.org/officeDocument/2006/relationships/chart" Target="/ppt/slides/charts/chart4.xml" Id="R1c6a73bc8b844a2d" /><Relationship Type="http://schemas.openxmlformats.org/officeDocument/2006/relationships/notesSlide" Target="/ppt/notesSlides/notesSlide6.xml" Id="R3c2eb24c921d4aa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43bf63469e4ace" /><Relationship Type="http://schemas.openxmlformats.org/officeDocument/2006/relationships/notesSlide" Target="/ppt/notesSlides/notesSlide7.xml" Id="R2db02d7e615249e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e4ecb4121e4001" /><Relationship Type="http://schemas.openxmlformats.org/officeDocument/2006/relationships/chart" Target="/ppt/slides/charts/chart5.xml" Id="R9b340d993aa747cc" /><Relationship Type="http://schemas.openxmlformats.org/officeDocument/2006/relationships/notesSlide" Target="/ppt/notesSlides/notesSlide8.xml" Id="R2412808153b8420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3e06aada154ecf" /><Relationship Type="http://schemas.openxmlformats.org/officeDocument/2006/relationships/notesSlide" Target="/ppt/notesSlides/notesSlide9.xml" Id="R26d16f59a3a649a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65bc70e7734367" /><Relationship Type="http://schemas.openxmlformats.org/officeDocument/2006/relationships/notesSlide" Target="/ppt/notesSlides/notesSlide10.xml" Id="R46a482e3346940f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971c88a7744733" /><Relationship Type="http://schemas.openxmlformats.org/officeDocument/2006/relationships/notesSlide" Target="/ppt/notesSlides/notesSlide11.xml" Id="R30c08dc02166424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c99c32e022460c" /><Relationship Type="http://schemas.openxmlformats.org/officeDocument/2006/relationships/image" Target="/ppt/media/image.png" Id="R07a0b99d0f12417b" /><Relationship Type="http://schemas.openxmlformats.org/officeDocument/2006/relationships/image" Target="/ppt/media/image2.png" Id="Rc66b77628f904ce0" /><Relationship Type="http://schemas.openxmlformats.org/officeDocument/2006/relationships/notesSlide" Target="/ppt/notesSlides/notesSlide12.xml" Id="Rd43177b7bf6c4ab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1cc2cc7a1c4004" /><Relationship Type="http://schemas.openxmlformats.org/officeDocument/2006/relationships/image" Target="/ppt/media/image.jpeg" Id="R3e0ab51b045a4317" /><Relationship Type="http://schemas.openxmlformats.org/officeDocument/2006/relationships/notesSlide" Target="/ppt/notesSlides/notesSlide13.xml" Id="R8c122c715507406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48cdbbd2ac4774" /><Relationship Type="http://schemas.openxmlformats.org/officeDocument/2006/relationships/notesSlide" Target="/ppt/notesSlides/notesSlide14.xml" Id="Radc3d3b0970740e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27e372752249d4" /><Relationship Type="http://schemas.openxmlformats.org/officeDocument/2006/relationships/image" Target="/ppt/media/image3.png" Id="Ref5dc5a4e82f436e" /><Relationship Type="http://schemas.openxmlformats.org/officeDocument/2006/relationships/notesSlide" Target="/ppt/notesSlides/notesSlide15.xml" Id="Rb16d8918304246a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Часы</c:v>
          </c:tx>
          <c:spPr>
            <a:solidFill xmlns:a="http://schemas.openxmlformats.org/drawingml/2006/main">
              <a:srgbClr val="1D73E8"/>
            </a:solidFill>
          </c:spPr>
          <c:cat>
            <c:strLit>
              <c:ptCount val="7"/>
              <c:pt idx="0">
                <c:v>SALE · 23 задачи</c:v>
              </c:pt>
              <c:pt idx="1">
                <c:v>Тамбов · 12</c:v>
              </c:pt>
              <c:pt idx="2">
                <c:v>Re:Turn · 16</c:v>
              </c:pt>
              <c:pt idx="3">
                <c:v>Белгород · 16</c:v>
              </c:pt>
              <c:pt idx="4">
                <c:v>Кострома · 11</c:v>
              </c:pt>
              <c:pt idx="5">
                <c:v>MAX-боты · 5</c:v>
              </c:pt>
              <c:pt idx="6">
                <c:v>РСУД · 7</c:v>
              </c:pt>
            </c:strLit>
          </c:cat>
          <c:val>
            <c:numLit>
              <c:formatCode>0.#" ч"</c:formatCode>
              <c:ptCount val="7"/>
              <c:pt idx="0">
                <c:v>342</c:v>
              </c:pt>
              <c:pt idx="1">
                <c:v>256</c:v>
              </c:pt>
              <c:pt idx="2">
                <c:v>202</c:v>
              </c:pt>
              <c:pt idx="3">
                <c:v>148</c:v>
              </c:pt>
              <c:pt idx="4">
                <c:v>136</c:v>
              </c:pt>
              <c:pt idx="5">
                <c:v>91</c:v>
              </c:pt>
              <c:pt idx="6">
                <c:v>39.5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02A56"/>
                  </a:solidFill>
                  <a:latin typeface="Lato"/>
                  <a:ea typeface="Lato"/>
                  <a:cs typeface="Lat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Lato"/>
                <a:ea typeface="Lato"/>
                <a:cs typeface="Lato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Часы</c:v>
          </c:tx>
          <c:spPr>
            <a:solidFill xmlns:a="http://schemas.openxmlformats.org/drawingml/2006/main">
              <a:srgbClr val="1D73E8"/>
            </a:solidFill>
          </c:spPr>
          <c:cat>
            <c:strLit>
              <c:ptCount val="12"/>
              <c:pt idx="0">
                <c:v>окт'25</c:v>
              </c:pt>
              <c:pt idx="1">
                <c:v>ноя</c:v>
              </c:pt>
              <c:pt idx="2">
                <c:v>дек</c:v>
              </c:pt>
              <c:pt idx="3">
                <c:v>янв'26</c:v>
              </c:pt>
              <c:pt idx="4">
                <c:v>фев</c:v>
              </c:pt>
              <c:pt idx="5">
                <c:v>мар</c:v>
              </c:pt>
              <c:pt idx="6">
                <c:v>апр</c:v>
              </c:pt>
              <c:pt idx="7">
                <c:v>май</c:v>
              </c:pt>
              <c:pt idx="8">
                <c:v>июн</c:v>
              </c:pt>
              <c:pt idx="9">
                <c:v>июл</c:v>
              </c:pt>
              <c:pt idx="10">
                <c:v>авг</c:v>
              </c:pt>
              <c:pt idx="11">
                <c:v>сен</c:v>
              </c:pt>
            </c:strLit>
          </c:cat>
          <c:val>
            <c:numLit>
              <c:formatCode>0.#</c:formatCode>
              <c:ptCount val="12"/>
              <c:pt idx="0">
                <c:v>12</c:v>
              </c:pt>
              <c:pt idx="1">
                <c:v>68</c:v>
              </c:pt>
              <c:pt idx="2">
                <c:v>66</c:v>
              </c:pt>
              <c:pt idx="3">
                <c:v>87</c:v>
              </c:pt>
              <c:pt idx="4">
                <c:v>67</c:v>
              </c:pt>
              <c:pt idx="5">
                <c:v>181</c:v>
              </c:pt>
              <c:pt idx="6">
                <c:v>71.5</c:v>
              </c:pt>
              <c:pt idx="7">
                <c:v>91</c:v>
              </c:pt>
              <c:pt idx="8">
                <c:v>128</c:v>
              </c:pt>
              <c:pt idx="9">
                <c:v>144</c:v>
              </c:pt>
              <c:pt idx="10">
                <c:v>269</c:v>
              </c:pt>
              <c:pt idx="11">
                <c:v>30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02A56"/>
                  </a:solidFill>
                  <a:latin typeface="Lato"/>
                  <a:ea typeface="Lato"/>
                  <a:cs typeface="Lat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DD8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</a:p>
        </c:txPr>
        <c:crossAx val="48672768"/>
      </c:catAx>
      <c:valAx>
        <c:axId val="48672768"/>
        <c:scaling>
          <c:orientation val="minMax"/>
          <c:max val="300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Lato"/>
                <a:ea typeface="Lato"/>
                <a:cs typeface="Lato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stacked"/>
        <c:varyColors val="0"/>
        <c:ser>
          <c:idx val="0"/>
          <c:order val="0"/>
          <c:tx>
            <c:v>ФРГУ 3.0</c:v>
          </c:tx>
          <c:spPr>
            <a:solidFill xmlns:a="http://schemas.openxmlformats.org/drawingml/2006/main">
              <a:srgbClr val="1D73E8"/>
            </a:solidFill>
          </c:spPr>
          <c:cat>
            <c:strLit>
              <c:ptCount val="1"/>
              <c:pt idx="0">
                <c:v>Тамбов</c:v>
              </c:pt>
            </c:strLit>
          </c:cat>
          <c:val>
            <c:numLit>
              <c:formatCode>General</c:formatCode>
              <c:ptCount val="1"/>
              <c:pt idx="0">
                <c:v>158</c:v>
              </c:pt>
            </c:numLit>
          </c:val>
        </c:ser>
        <c:ser>
          <c:idx val="1"/>
          <c:order val="1"/>
          <c:tx>
            <c:v>ЕПГУ</c:v>
          </c:tx>
          <c:spPr>
            <a:solidFill xmlns:a="http://schemas.openxmlformats.org/drawingml/2006/main">
              <a:srgbClr val="4B9CFF"/>
            </a:solidFill>
          </c:spPr>
          <c:cat>
            <c:strLit>
              <c:ptCount val="1"/>
              <c:pt idx="0">
                <c:v>Тамбов</c:v>
              </c:pt>
            </c:strLit>
          </c:cat>
          <c:val>
            <c:numLit>
              <c:formatCode>General</c:formatCode>
              <c:ptCount val="1"/>
              <c:pt idx="0">
                <c:v>88</c:v>
              </c:pt>
            </c:numLit>
          </c:val>
        </c:ser>
        <c:ser>
          <c:idx val="2"/>
          <c:order val="2"/>
          <c:tx>
            <c:v>СМЭВ 3</c:v>
          </c:tx>
          <c:spPr>
            <a:solidFill xmlns:a="http://schemas.openxmlformats.org/drawingml/2006/main">
              <a:srgbClr val="A8CEFF"/>
            </a:solidFill>
          </c:spPr>
          <c:cat>
            <c:strLit>
              <c:ptCount val="1"/>
              <c:pt idx="0">
                <c:v>Тамбов</c:v>
              </c:pt>
            </c:strLit>
          </c:cat>
          <c:val>
            <c:numLit>
              <c:formatCode>General</c:formatCode>
              <c:ptCount val="1"/>
              <c:pt idx="0">
                <c:v>8</c:v>
              </c:pt>
            </c:numLit>
          </c:val>
        </c:ser>
        <c:ser>
          <c:idx val="3"/>
          <c:order val="3"/>
          <c:tx>
            <c:v>MAX</c:v>
          </c:tx>
          <c:spPr>
            <a:solidFill xmlns:a="http://schemas.openxmlformats.org/drawingml/2006/main">
              <a:srgbClr val="D7E9FF"/>
            </a:solidFill>
          </c:spPr>
          <c:cat>
            <c:strLit>
              <c:ptCount val="1"/>
              <c:pt idx="0">
                <c:v>Тамбов</c:v>
              </c:pt>
            </c:strLit>
          </c:cat>
          <c:val>
            <c:numLit>
              <c:formatCode>General</c:formatCode>
              <c:ptCount val="1"/>
              <c:pt idx="0">
                <c:v>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FFFFFF"/>
                  </a:solidFill>
                  <a:latin typeface="Lato"/>
                  <a:ea typeface="Lato"/>
                  <a:cs typeface="Lato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6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Lato"/>
                <a:ea typeface="Lato"/>
                <a:cs typeface="Lato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Lato"/>
                <a:ea typeface="Lato"/>
                <a:cs typeface="Lato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02A56"/>
              </a:solidFill>
              <a:latin typeface="Lato"/>
              <a:ea typeface="Lato"/>
              <a:cs typeface="Lato"/>
            </a:defRPr>
          </a:pPr>
        </a:p>
      </c:txPr>
    </c:legend>
    <c:plotVisOnly val="1"/>
  </c:chart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bar"/>
        <c:grouping val="stacked"/>
        <c:varyColors val="0"/>
        <c:ser>
          <c:idx val="0"/>
          <c:order val="0"/>
          <c:tx>
            <c:v>Требования</c:v>
          </c:tx>
          <c:spPr>
            <a:solidFill xmlns:a="http://schemas.openxmlformats.org/drawingml/2006/main">
              <a:srgbClr val="A8CEFF"/>
            </a:solidFill>
          </c:spPr>
          <c:cat>
            <c:strLit>
              <c:ptCount val="1"/>
              <c:pt idx="0">
                <c:v>16 задач</c:v>
              </c:pt>
            </c:strLit>
          </c:cat>
          <c:val>
            <c:numLit>
              <c:formatCode>General</c:formatCode>
              <c:ptCount val="1"/>
              <c:pt idx="0">
                <c:v>44</c:v>
              </c:pt>
            </c:numLit>
          </c:val>
        </c:ser>
        <c:ser>
          <c:idx val="1"/>
          <c:order val="1"/>
          <c:tx>
            <c:v>Тестирование</c:v>
          </c:tx>
          <c:spPr>
            <a:solidFill xmlns:a="http://schemas.openxmlformats.org/drawingml/2006/main">
              <a:srgbClr val="1D73E8"/>
            </a:solidFill>
          </c:spPr>
          <c:cat>
            <c:strLit>
              <c:ptCount val="1"/>
              <c:pt idx="0">
                <c:v>16 задач</c:v>
              </c:pt>
            </c:strLit>
          </c:cat>
          <c:val>
            <c:numLit>
              <c:formatCode>General</c:formatCode>
              <c:ptCount val="1"/>
              <c:pt idx="0">
                <c:v>109</c:v>
              </c:pt>
            </c:numLit>
          </c:val>
        </c:ser>
        <c:ser>
          <c:idx val="2"/>
          <c:order val="2"/>
          <c:tx>
            <c:v>Задачи back/front</c:v>
          </c:tx>
          <c:spPr>
            <a:solidFill xmlns:a="http://schemas.openxmlformats.org/drawingml/2006/main">
              <a:srgbClr val="4B9CFF"/>
            </a:solidFill>
          </c:spPr>
          <c:cat>
            <c:strLit>
              <c:ptCount val="1"/>
              <c:pt idx="0">
                <c:v>16 задач</c:v>
              </c:pt>
            </c:strLit>
          </c:cat>
          <c:val>
            <c:numLit>
              <c:formatCode>General</c:formatCode>
              <c:ptCount val="1"/>
              <c:pt idx="0">
                <c:v>49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FFFFFF"/>
                  </a:solidFill>
                  <a:latin typeface="Lato"/>
                  <a:ea typeface="Lato"/>
                  <a:cs typeface="Lato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4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Lato"/>
                <a:ea typeface="Lato"/>
                <a:cs typeface="Lato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Lato"/>
                <a:ea typeface="Lato"/>
                <a:cs typeface="Lato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02A56"/>
              </a:solidFill>
              <a:latin typeface="Lato"/>
              <a:ea typeface="Lato"/>
              <a:cs typeface="Lato"/>
            </a:defRPr>
          </a:pPr>
        </a:p>
      </c:txPr>
    </c:legend>
    <c:plotVisOnly val="1"/>
  </c:chart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Часы</c:v>
          </c:tx>
          <c:spPr>
            <a:solidFill xmlns:a="http://schemas.openxmlformats.org/drawingml/2006/main">
              <a:srgbClr val="1D73E8"/>
            </a:solidFill>
          </c:spPr>
          <c:cat>
            <c:strLit>
              <c:ptCount val="5"/>
              <c:pt idx="0">
                <c:v>СБП ФК · 4 задачи</c:v>
              </c:pt>
              <c:pt idx="1">
                <c:v>Услуги МИЗО · 4</c:v>
              </c:pt>
              <c:pt idx="2">
                <c:v>Курьерский модуль · 2</c:v>
              </c:pt>
              <c:pt idx="3">
                <c:v>Доступность сайтов · 2</c:v>
              </c:pt>
              <c:pt idx="4">
                <c:v>ФССП · 3</c:v>
              </c:pt>
            </c:strLit>
          </c:cat>
          <c:val>
            <c:numLit>
              <c:formatCode>0" ч"</c:formatCode>
              <c:ptCount val="5"/>
              <c:pt idx="0">
                <c:v>75</c:v>
              </c:pt>
              <c:pt idx="1">
                <c:v>44</c:v>
              </c:pt>
              <c:pt idx="2">
                <c:v>36</c:v>
              </c:pt>
              <c:pt idx="3">
                <c:v>32</c:v>
              </c:pt>
              <c:pt idx="4">
                <c:v>27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02A56"/>
                  </a:solidFill>
                  <a:latin typeface="Lato"/>
                  <a:ea typeface="Lato"/>
                  <a:cs typeface="Lat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Lato"/>
                <a:ea typeface="Lato"/>
                <a:cs typeface="Lato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D7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B8C568-4134-463D-B5F8-4C66219E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76D760-BF05-4A19-92B4-C67B4E66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666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3450" b="1">
                <a:solidFill>
                  <a:srgbClr val="FFFFFF"/>
                </a:solidFill>
                <a:latin typeface="Lato"/>
                <a:ea typeface="Lato"/>
                <a:cs typeface="Lato"/>
              </a:rPr>
              <a:t>АССЕСМЕНТ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2FB684-9894-407E-B90B-CA5C82DC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905125"/>
            <a:ext cx="733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FFFFFF"/>
                </a:solidFill>
                <a:latin typeface="Lato"/>
                <a:ea typeface="Lato"/>
                <a:cs typeface="Lato"/>
              </a:rPr>
              <a:t>Результаты работы с 25.10.2025 по 22.09.2026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945C34-0555-47DE-8901-444693F5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38550"/>
            <a:ext cx="581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2025" b="0">
                <a:solidFill>
                  <a:srgbClr val="FFFFFF"/>
                </a:solidFill>
                <a:latin typeface="Lato"/>
                <a:ea typeface="Lato"/>
                <a:cs typeface="Lato"/>
              </a:rPr>
              <a:t>Антон Курганский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2025" b="0">
                <a:solidFill>
                  <a:srgbClr val="FFFFFF"/>
                </a:solidFill>
                <a:latin typeface="Lato"/>
                <a:ea typeface="Lato"/>
                <a:cs typeface="Lato"/>
              </a:rPr>
              <a:t>Системный аналитик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27D091-56C6-46E2-B232-DCC2E571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5245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CEBFF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DCEBFF"/>
                </a:solidFill>
                <a:latin typeface="Lato"/>
                <a:ea typeface="Lato"/>
                <a:cs typeface="Lato"/>
              </a:rPr>
              <a:t>25 сентября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F93631-5778-4CF0-998C-0779E401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191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1" u="sng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650" b="1" u="sng">
                <a:solidFill>
                  <a:srgbClr val="FFFFFF"/>
                </a:solidFill>
                <a:latin typeface="Lato"/>
                <a:ea typeface="Lato"/>
                <a:cs typeface="Lato"/>
              </a:rPr>
              <a:t>INTEGRIX</a:t>
            </a:r>
          </a:p>
        </p:txBody>
      </p:sp>
    </p:spTree>
    <p:extLst>
      <p:ext uri="{BB962C8B-B14F-4D97-AF65-F5344CB8AC3E}">
        <p14:creationId xmlns:p14="http://schemas.microsoft.com/office/powerpoint/2010/main" val="2288434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8D7CB0-F1E6-4E86-8640-1FF20902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23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Год в цифрах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1C2899-DBA4-437A-AB4A-22ADC560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334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Закрытые задачи и списанные трудозатраты после ассесмента 2025 года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7CE1DD-56C8-4AD7-BDDE-4447D280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 u="sng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425" b="1" u="sng">
                <a:solidFill>
                  <a:srgbClr val="1D73E8"/>
                </a:solidFill>
                <a:latin typeface="Lato"/>
                <a:ea typeface="Lato"/>
                <a:cs typeface="Lato"/>
              </a:rPr>
              <a:t>INTEGRIX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E53112-6D2A-460A-8FBF-145A8C44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DD8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E259AB-C1F3-4BE4-A22E-9009FFC7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627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1D73E8"/>
                </a:solidFill>
                <a:latin typeface="Lato"/>
                <a:ea typeface="Lato"/>
                <a:cs typeface="Lato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DC0E2C-774D-471F-9EAA-6AAFECFA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228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750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3750" b="1">
                <a:solidFill>
                  <a:srgbClr val="1D73E8"/>
                </a:solidFill>
                <a:latin typeface="Lato"/>
                <a:ea typeface="Lato"/>
                <a:cs typeface="Lato"/>
              </a:rPr>
              <a:t>93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691022-9F2A-4990-9BF7-563CB536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71825"/>
            <a:ext cx="2133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закрытые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задачи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8A403D-EB42-44A9-9839-C90E30C1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38375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750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3750" b="1">
                <a:solidFill>
                  <a:srgbClr val="1D73E8"/>
                </a:solidFill>
                <a:latin typeface="Lato"/>
                <a:ea typeface="Lato"/>
                <a:cs typeface="Lato"/>
              </a:rPr>
              <a:t>1 214,5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97C0AB-41A8-4DFF-9EEB-98D4FA04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171825"/>
            <a:ext cx="2324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часа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по Redmine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55D251-62DA-43EA-B4F8-159A14A3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38375"/>
            <a:ext cx="228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750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3750" b="1">
                <a:solidFill>
                  <a:srgbClr val="1D73E8"/>
                </a:solidFill>
                <a:latin typeface="Lato"/>
                <a:ea typeface="Lato"/>
                <a:cs typeface="Lato"/>
              </a:rPr>
              <a:t>15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B953A4-D6D5-417F-8E0E-24B24CF6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71825"/>
            <a:ext cx="2133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проектов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и направлений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3ADBE1-CDC3-4DFE-91B1-E67C3F68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38375"/>
            <a:ext cx="2428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750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3750" b="1">
                <a:solidFill>
                  <a:srgbClr val="1D73E8"/>
                </a:solidFill>
                <a:latin typeface="Lato"/>
                <a:ea typeface="Lato"/>
                <a:cs typeface="Lato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C5B265-CD9C-425E-AF78-8BF1E14FD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71825"/>
            <a:ext cx="22764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региона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Белгород, Кострома, Тамбов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7140DF-31BC-4410-AE2A-AA2F652E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266950"/>
            <a:ext cx="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A5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0C6F8A-A24E-4653-A3FD-4C57CE42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266950"/>
            <a:ext cx="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A5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F0F58B-A974-44AD-92B3-396C8CA4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266950"/>
            <a:ext cx="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A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CB992E-DF60-4346-96A5-5537AC0D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3799D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63799D"/>
                </a:solidFill>
                <a:latin typeface="Lato"/>
                <a:ea typeface="Lato"/>
                <a:cs typeface="Lato"/>
              </a:rPr>
              <a:t>В презентацию включены только задачи со статусом «Закрыта». Две отклонённые задачи исключены.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AE6D5A-CB7E-4294-8503-A16F3CF0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8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Источник: Redmine, выгрузка на 22.09.2026</a:t>
            </a:r>
          </a:p>
        </p:txBody>
      </p:sp>
    </p:spTree>
    <p:extLst>
      <p:ext uri="{BB962C8B-B14F-4D97-AF65-F5344CB8AC3E}">
        <p14:creationId xmlns:p14="http://schemas.microsoft.com/office/powerpoint/2010/main" val="15170778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1A9F07-7FC7-4EA9-8D4E-6DCB6D2E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23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Портфель работ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7E77EA-AC8E-4186-82AD-8693F5F8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334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Трудозатраты по группам проектов, часы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2EED99-CDAE-4639-A2E2-24139478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 u="sng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425" b="1" u="sng">
                <a:solidFill>
                  <a:srgbClr val="1D73E8"/>
                </a:solidFill>
                <a:latin typeface="Lato"/>
                <a:ea typeface="Lato"/>
                <a:cs typeface="Lato"/>
              </a:rPr>
              <a:t>INTEGRIX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CDA181-9B2D-4CF0-9BD8-737B1DDDA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DD8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85250B-72AB-44E5-B2C3-4037F2FC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627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1D73E8"/>
                </a:solidFill>
                <a:latin typeface="Lato"/>
                <a:ea typeface="Lato"/>
                <a:cs typeface="Lato"/>
              </a:rPr>
              <a:t>03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1095375" y="1428750"/>
          <a:ext xmlns:a="http://schemas.openxmlformats.org/drawingml/2006/main" cx="10001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838d16b0cc14596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974B5B-4DC3-4FE2-A9C8-473220A8B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619750"/>
            <a:ext cx="3857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3799D"/>
                </a:solidFill>
                <a:latin typeface="Lato"/>
                <a:ea typeface="Lato"/>
                <a:cs typeface="Lato"/>
              </a:defRPr>
            </a:pPr>
            <a:r>
              <a:rPr sz="1050" b="0">
                <a:solidFill>
                  <a:srgbClr val="63799D"/>
                </a:solidFill>
                <a:latin typeface="Lato"/>
                <a:ea typeface="Lato"/>
                <a:cs typeface="Lato"/>
              </a:rPr>
              <a:t>Ещё 3 закрытые задачи без списаний учтены в INT, INV и RDC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271519-CF7E-49D0-8B5F-848B6BFB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8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Группировка по проектам Redmine</a:t>
            </a:r>
          </a:p>
        </p:txBody>
      </p:sp>
    </p:spTree>
    <p:extLst>
      <p:ext uri="{BB962C8B-B14F-4D97-AF65-F5344CB8AC3E}">
        <p14:creationId xmlns:p14="http://schemas.microsoft.com/office/powerpoint/2010/main" val="20437044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AB40F9-55F3-4D8F-B248-894979E0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23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Динамика трудозатрат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F26540-EB15-41AD-B1BD-BFEA15B5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334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Списанные часы по месяцу закрытия задачи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E64BAF-5B18-4C4E-92B3-1231958F3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 u="sng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425" b="1" u="sng">
                <a:solidFill>
                  <a:srgbClr val="1D73E8"/>
                </a:solidFill>
                <a:latin typeface="Lato"/>
                <a:ea typeface="Lato"/>
                <a:cs typeface="Lato"/>
              </a:rPr>
              <a:t>INTEGRIX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300187-A5C8-4884-BA48-E4CFDBBF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DD8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DDF290-0599-4D6F-A6B3-852EABD9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627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1D73E8"/>
                </a:solidFill>
                <a:latin typeface="Lato"/>
                <a:ea typeface="Lato"/>
                <a:cs typeface="Lato"/>
              </a:rPr>
              <a:t>04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66750" y="1524000"/>
          <a:ext xmlns:a="http://schemas.openxmlformats.org/drawingml/2006/main" cx="10810875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062eb9418764d42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666DE9-6D40-451D-AAA9-3E2D193A7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76875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3799D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63799D"/>
                </a:solidFill>
                <a:latin typeface="Lato"/>
                <a:ea typeface="Lato"/>
                <a:cs typeface="Lato"/>
              </a:rPr>
              <a:t>Март, июль и август сочетали аналитику, проектирование, постановку задач и проверку реализации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423638-0DB6-46E1-A0A3-B52271259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8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Источник: Redmine, 93 закрытые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6528642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46054A-8709-4266-8C17-FBA798E7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23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ФРГУ 3.0 и запись в МФЦ через ЕПГУ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F03342-5414-4768-B0E6-F80490BE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334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Самое крупное региональное направление: 12 задач, 256 часов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470A1F-ECF3-4A3B-AABF-26608996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 u="sng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425" b="1" u="sng">
                <a:solidFill>
                  <a:srgbClr val="1D73E8"/>
                </a:solidFill>
                <a:latin typeface="Lato"/>
                <a:ea typeface="Lato"/>
                <a:cs typeface="Lato"/>
              </a:rPr>
              <a:t>INTEGRIX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70BE8E-3023-48EA-A121-80DD00E7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DD8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996DD9-A174-4555-92B0-62D5D64E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627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1D73E8"/>
                </a:solidFill>
                <a:latin typeface="Lato"/>
                <a:ea typeface="Lato"/>
                <a:cs typeface="Lato"/>
              </a:rPr>
              <a:t>05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23875" y="1952625"/>
          <a:ext xmlns:a="http://schemas.openxmlformats.org/drawingml/2006/main" cx="6477000" cy="2095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1f8c229df6240ff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1F956E-DD89-4EDA-A927-07DA5CC5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00200"/>
            <a:ext cx="323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1D73E8"/>
                </a:solidFill>
                <a:latin typeface="Lato"/>
                <a:ea typeface="Lato"/>
                <a:cs typeface="Lato"/>
              </a:rPr>
              <a:t>256 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549662-CEC3-4677-88D0-1581535B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76500"/>
            <a:ext cx="3905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425">
                <a:solidFill>
                  <a:srgbClr val="203A67"/>
                </a:solidFill>
                <a:latin typeface="Lato"/>
                <a:ea typeface="Lato"/>
                <a:cs typeface="Lato"/>
              </a:defRPr>
            </a:pPr>
            <a:r>
              <a:rPr sz="1425">
                <a:solidFill>
                  <a:srgbClr val="203A67"/>
                </a:solidFill>
                <a:latin typeface="Lato"/>
                <a:ea typeface="Lato"/>
                <a:cs typeface="Lato"/>
              </a:rPr>
              <a:t>Сравнение моделей ФРГУ-1 и ФРГУ-3</a:t>
            </a:r>
          </a:p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425">
                <a:solidFill>
                  <a:srgbClr val="203A67"/>
                </a:solidFill>
                <a:latin typeface="Lato"/>
                <a:ea typeface="Lato"/>
                <a:cs typeface="Lato"/>
              </a:defRPr>
            </a:pPr>
            <a:r>
              <a:rPr sz="1425">
                <a:solidFill>
                  <a:srgbClr val="203A67"/>
                </a:solidFill>
                <a:latin typeface="Lato"/>
                <a:ea typeface="Lato"/>
                <a:cs typeface="Lato"/>
              </a:rPr>
              <a:t>Целевая модель Re:Doc и сценарии паспорта услуги</a:t>
            </a:r>
          </a:p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425">
                <a:solidFill>
                  <a:srgbClr val="203A67"/>
                </a:solidFill>
                <a:latin typeface="Lato"/>
                <a:ea typeface="Lato"/>
                <a:cs typeface="Lato"/>
              </a:defRPr>
            </a:pPr>
            <a:r>
              <a:rPr sz="1425">
                <a:solidFill>
                  <a:srgbClr val="203A67"/>
                </a:solidFill>
                <a:latin typeface="Lato"/>
                <a:ea typeface="Lato"/>
                <a:cs typeface="Lato"/>
              </a:rPr>
              <a:t>Микросервис для записи в МФЦ через ЕПГУ</a:t>
            </a:r>
          </a:p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425">
                <a:solidFill>
                  <a:srgbClr val="203A67"/>
                </a:solidFill>
                <a:latin typeface="Lato"/>
                <a:ea typeface="Lato"/>
                <a:cs typeface="Lato"/>
              </a:defRPr>
            </a:pPr>
            <a:r>
              <a:rPr sz="1425">
                <a:solidFill>
                  <a:srgbClr val="203A67"/>
                </a:solidFill>
                <a:latin typeface="Lato"/>
                <a:ea typeface="Lato"/>
                <a:cs typeface="Lato"/>
              </a:rPr>
              <a:t>Проверенный рабочий сценарий сборки паспорта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27AFBB-3131-42E8-92D7-ABB368FA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3799D"/>
                </a:solidFill>
                <a:latin typeface="Lato"/>
                <a:ea typeface="Lato"/>
                <a:cs typeface="Lato"/>
              </a:defRPr>
            </a:pPr>
            <a:r>
              <a:rPr sz="1050" b="0">
                <a:solidFill>
                  <a:srgbClr val="63799D"/>
                </a:solidFill>
                <a:latin typeface="Lato"/>
                <a:ea typeface="Lato"/>
                <a:cs typeface="Lato"/>
              </a:rPr>
              <a:t>Задачи: #124745, #125091, #125229, #125520–#125525, #126049, #127787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3343E0-47E3-468A-93DD-2F8A5F3F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8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Источник: Redmine, проект «Тамбов — Поддержка АИС МФЦ 2026»</a:t>
            </a:r>
          </a:p>
        </p:txBody>
      </p:sp>
    </p:spTree>
    <p:extLst>
      <p:ext uri="{BB962C8B-B14F-4D97-AF65-F5344CB8AC3E}">
        <p14:creationId xmlns:p14="http://schemas.microsoft.com/office/powerpoint/2010/main" val="10656286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9A49CF-78BF-4BD0-A616-34FBFDF6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23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Re:Turn: электронная очередь 3.0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E58405-681B-468F-9A62-8A68A7A6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334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Полный цикл: от требований к тестированию и постановке задач на доработку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62E255-DE84-4184-9346-0691A6C3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 u="sng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425" b="1" u="sng">
                <a:solidFill>
                  <a:srgbClr val="1D73E8"/>
                </a:solidFill>
                <a:latin typeface="Lato"/>
                <a:ea typeface="Lato"/>
                <a:cs typeface="Lato"/>
              </a:rPr>
              <a:t>INTEGRIX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55DB83-26B1-4D3D-90FA-CB95AFB3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DD8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31B7AA-7A77-4A92-AEDA-3CAF22E5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627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1D73E8"/>
                </a:solidFill>
                <a:latin typeface="Lato"/>
                <a:ea typeface="Lato"/>
                <a:cs typeface="Lato"/>
              </a:rPr>
              <a:t>06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71500" y="1952625"/>
          <a:ext xmlns:a="http://schemas.openxmlformats.org/drawingml/2006/main" cx="6572250" cy="2143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c6a73bc8b844a2d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DBBFDB-504D-4FEF-915F-F1B552A5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8115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1D73E8"/>
                </a:solidFill>
                <a:latin typeface="Lato"/>
                <a:ea typeface="Lato"/>
                <a:cs typeface="Lato"/>
              </a:rPr>
              <a:t>202 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C4DC80-5218-42B0-95B3-4C1141B5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476500"/>
            <a:ext cx="3905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425">
                <a:solidFill>
                  <a:srgbClr val="203A67"/>
                </a:solidFill>
                <a:latin typeface="Lato"/>
                <a:ea typeface="Lato"/>
                <a:cs typeface="Lato"/>
              </a:defRPr>
            </a:pPr>
            <a:r>
              <a:rPr sz="1425">
                <a:solidFill>
                  <a:srgbClr val="203A67"/>
                </a:solidFill>
                <a:latin typeface="Lato"/>
                <a:ea typeface="Lato"/>
                <a:cs typeface="Lato"/>
              </a:rPr>
              <a:t>Админка и пульт оператора</a:t>
            </a:r>
          </a:p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425">
                <a:solidFill>
                  <a:srgbClr val="203A67"/>
                </a:solidFill>
                <a:latin typeface="Lato"/>
                <a:ea typeface="Lato"/>
                <a:cs typeface="Lato"/>
              </a:defRPr>
            </a:pPr>
            <a:r>
              <a:rPr sz="1425">
                <a:solidFill>
                  <a:srgbClr val="203A67"/>
                </a:solidFill>
                <a:latin typeface="Lato"/>
                <a:ea typeface="Lato"/>
                <a:cs typeface="Lato"/>
              </a:rPr>
              <a:t>Полный цикл: пульт, терминалы, мониторы</a:t>
            </a:r>
          </a:p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425">
                <a:solidFill>
                  <a:srgbClr val="203A67"/>
                </a:solidFill>
                <a:latin typeface="Lato"/>
                <a:ea typeface="Lato"/>
                <a:cs typeface="Lato"/>
              </a:defRPr>
            </a:pPr>
            <a:r>
              <a:rPr sz="1425">
                <a:solidFill>
                  <a:srgbClr val="203A67"/>
                </a:solidFill>
                <a:latin typeface="Lato"/>
                <a:ea typeface="Lato"/>
                <a:cs typeface="Lato"/>
              </a:rPr>
              <a:t>Актуализация требований по результатам тестов</a:t>
            </a:r>
          </a:p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425">
                <a:solidFill>
                  <a:srgbClr val="203A67"/>
                </a:solidFill>
                <a:latin typeface="Lato"/>
                <a:ea typeface="Lato"/>
                <a:cs typeface="Lato"/>
              </a:defRPr>
            </a:pPr>
            <a:r>
              <a:rPr sz="1425">
                <a:solidFill>
                  <a:srgbClr val="203A67"/>
                </a:solidFill>
                <a:latin typeface="Lato"/>
                <a:ea typeface="Lato"/>
                <a:cs typeface="Lato"/>
              </a:rPr>
              <a:t>Декомпозиция доработок для back-end и front-end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5FDB3C-B81D-4C93-BDB3-16C0D6F1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3799D"/>
                </a:solidFill>
                <a:latin typeface="Lato"/>
                <a:ea typeface="Lato"/>
                <a:cs typeface="Lato"/>
              </a:defRPr>
            </a:pPr>
            <a:r>
              <a:rPr sz="1050" b="0">
                <a:solidFill>
                  <a:srgbClr val="63799D"/>
                </a:solidFill>
                <a:latin typeface="Lato"/>
                <a:ea typeface="Lato"/>
                <a:cs typeface="Lato"/>
              </a:rPr>
              <a:t>Ключевые задачи: #119436, #119437, #120152, #121484, #123632, #124444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1D3536-1EFC-4F95-A47A-6FB55010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8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Источник: Redmine, проект «Электронная очередь 3.0»</a:t>
            </a:r>
          </a:p>
        </p:txBody>
      </p:sp>
    </p:spTree>
    <p:extLst>
      <p:ext uri="{BB962C8B-B14F-4D97-AF65-F5344CB8AC3E}">
        <p14:creationId xmlns:p14="http://schemas.microsoft.com/office/powerpoint/2010/main" val="8113045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087B1A-FB0C-4654-9238-144E807B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23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MAX-боты: архитектура, API и прототипы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0A732D-7DB6-416D-A5E0-42F19343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334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8 ключевых задач на 238 часов; в слайде показаны самые крупные работы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396DFF-FAAB-4FED-A221-985FBF84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 u="sng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425" b="1" u="sng">
                <a:solidFill>
                  <a:srgbClr val="1D73E8"/>
                </a:solidFill>
                <a:latin typeface="Lato"/>
                <a:ea typeface="Lato"/>
                <a:cs typeface="Lato"/>
              </a:rPr>
              <a:t>INTEGRIX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3D6996-A42B-41A3-8D15-908A16FF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DD8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7ED172-9497-44DD-9BFC-D6AF67F2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627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1D73E8"/>
                </a:solidFill>
                <a:latin typeface="Lato"/>
                <a:ea typeface="Lato"/>
                <a:cs typeface="Lato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82C005-648A-483E-8E7F-FA09ED33C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A8CEFF"/>
                </a:solidFill>
                <a:latin typeface="Lato"/>
                <a:ea typeface="Lato"/>
                <a:cs typeface="Lato"/>
              </a:defRPr>
            </a:pPr>
            <a:r>
              <a:rPr sz="2850" b="1">
                <a:solidFill>
                  <a:srgbClr val="A8CEFF"/>
                </a:solidFill>
                <a:latin typeface="Lato"/>
                <a:ea typeface="Lato"/>
                <a:cs typeface="Lat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600F63-0B82-4B29-A03A-5E832C6F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АРХИТЕКТУРА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225CB3-40BC-40F4-9FE0-C34C539C3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304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C#-микросервис MAX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Приём запросов в Re:Doc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321D1A-CDC9-422B-87E7-BAFE89F9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3799D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63799D"/>
                </a:solidFill>
                <a:latin typeface="Lato"/>
                <a:ea typeface="Lato"/>
                <a:cs typeface="Lato"/>
              </a:rPr>
              <a:t>#120201 · 80 ч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63799D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63799D"/>
                </a:solidFill>
                <a:latin typeface="Lato"/>
                <a:ea typeface="Lato"/>
                <a:cs typeface="Lato"/>
              </a:rPr>
              <a:t>#120202 · 11 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B7F78A-707E-46A9-8117-397ADA9E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0"/>
            <a:ext cx="0" cy="3476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DD8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25F97B-5E3C-4D50-A627-0A3345BF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1925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A8CEFF"/>
                </a:solidFill>
                <a:latin typeface="Lato"/>
                <a:ea typeface="Lato"/>
                <a:cs typeface="Lato"/>
              </a:defRPr>
            </a:pPr>
            <a:r>
              <a:rPr sz="2850" b="1">
                <a:solidFill>
                  <a:srgbClr val="A8CEFF"/>
                </a:solidFill>
                <a:latin typeface="Lato"/>
                <a:ea typeface="Lato"/>
                <a:cs typeface="Lat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661344-9853-444A-97B0-73CA4D80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907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1D73E8"/>
                </a:solidFill>
                <a:latin typeface="Lato"/>
                <a:ea typeface="Lato"/>
                <a:cs typeface="Lato"/>
              </a:rPr>
              <a:t>API И ДАННЫЕ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A2BDFB-3EDD-4DF5-B775-BDD80A58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14625"/>
            <a:ext cx="304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Запросы с данными и файлами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Досылка текста и файлов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CF7689-1B04-4400-B624-C524A2C0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810000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3799D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63799D"/>
                </a:solidFill>
                <a:latin typeface="Lato"/>
                <a:ea typeface="Lato"/>
                <a:cs typeface="Lato"/>
              </a:rPr>
              <a:t>#122043 · 16 ч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63799D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63799D"/>
                </a:solidFill>
                <a:latin typeface="Lato"/>
                <a:ea typeface="Lato"/>
                <a:cs typeface="Lato"/>
              </a:rPr>
              <a:t>#122404 · 24 ч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63799D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63799D"/>
                </a:solidFill>
                <a:latin typeface="Lato"/>
                <a:ea typeface="Lato"/>
                <a:cs typeface="Lato"/>
              </a:rPr>
              <a:t>#123461 · 24 ч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63799D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63799D"/>
                </a:solidFill>
                <a:latin typeface="Lato"/>
                <a:ea typeface="Lato"/>
                <a:cs typeface="Lato"/>
              </a:rPr>
              <a:t>#124680 · 11 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382AFE-5D83-4825-9352-CBA242C4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619250"/>
            <a:ext cx="0" cy="3476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DD8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A99D75-FA5A-4ECE-B39B-5E4661B5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1925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A8CEFF"/>
                </a:solidFill>
                <a:latin typeface="Lato"/>
                <a:ea typeface="Lato"/>
                <a:cs typeface="Lato"/>
              </a:defRPr>
            </a:pPr>
            <a:r>
              <a:rPr sz="2850" b="1">
                <a:solidFill>
                  <a:srgbClr val="A8CEFF"/>
                </a:solidFill>
                <a:latin typeface="Lato"/>
                <a:ea typeface="Lato"/>
                <a:cs typeface="Lat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29030A-7279-48FC-8687-9BF4861F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907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ПРОТОТИП И ДЕМО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02C9BE-B5C9-4FD4-A081-F7D6A165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14625"/>
            <a:ext cx="323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Прототип чат-бота для ЧАО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Стенд MAX + ПЗ + ЭО + Re:Doc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6CCF39-8CED-4E6C-B084-56687E56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100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3799D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63799D"/>
                </a:solidFill>
                <a:latin typeface="Lato"/>
                <a:ea typeface="Lato"/>
                <a:cs typeface="Lato"/>
              </a:rPr>
              <a:t>#127199 · 40 ч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63799D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63799D"/>
                </a:solidFill>
                <a:latin typeface="Lato"/>
                <a:ea typeface="Lato"/>
                <a:cs typeface="Lato"/>
              </a:rPr>
              <a:t>#127372 · 32 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8ECD6F-8F6C-4128-83A4-4302FDB2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81625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D73E8"/>
                </a:solidFill>
                <a:latin typeface="Lato"/>
                <a:ea typeface="Lato"/>
                <a:cs typeface="Lato"/>
              </a:rPr>
              <a:t>Результат: переход от анализа к архитектуре, API-контрактам и демонстрируемым прототипам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DA2950-4222-4470-88D9-AE87DB10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8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Источник: Redmine; часы только по указанным задачам</a:t>
            </a:r>
          </a:p>
        </p:txBody>
      </p:sp>
    </p:spTree>
    <p:extLst>
      <p:ext uri="{BB962C8B-B14F-4D97-AF65-F5344CB8AC3E}">
        <p14:creationId xmlns:p14="http://schemas.microsoft.com/office/powerpoint/2010/main" val="14852873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FA4257-27B9-483E-9C8D-B2B9C331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23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Продуктивные интеграции и региональные изменения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912992-87B2-4006-B530-2AC6D6F14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334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Пять пакетов работ с измеримыми трудозатратами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FB5A88-862B-4A6D-8AF0-B1EBFD45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 u="sng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425" b="1" u="sng">
                <a:solidFill>
                  <a:srgbClr val="1D73E8"/>
                </a:solidFill>
                <a:latin typeface="Lato"/>
                <a:ea typeface="Lato"/>
                <a:cs typeface="Lato"/>
              </a:rPr>
              <a:t>INTEGRIX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1841CA-E421-41B2-9FA1-3C2C09B2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DD8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23E8C0-14B7-4AE2-ABA9-B90AAE1A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627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1D73E8"/>
                </a:solidFill>
                <a:latin typeface="Lato"/>
                <a:ea typeface="Lato"/>
                <a:cs typeface="Lato"/>
              </a:rPr>
              <a:t>08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1000125" y="1524000"/>
          <a:ext xmlns:a="http://schemas.openxmlformats.org/drawingml/2006/main" cx="101917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b340d993aa747cc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044D2F-ABEC-4BAF-B6A6-A17630E7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72125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3799D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63799D"/>
                </a:solidFill>
                <a:latin typeface="Lato"/>
                <a:ea typeface="Lato"/>
                <a:cs typeface="Lato"/>
              </a:rPr>
              <a:t>В этих работах сочетались анализ, требования, настройка стендов и проверка работы в контрольной и продуктивной среде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62D199-4509-44C2-B37F-ED7C5604D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8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Задачи: СБП #122773, #123347, #124529, #126845; МИЗО #112814, #115509, #115733, #116026; и др.</a:t>
            </a:r>
          </a:p>
        </p:txBody>
      </p:sp>
    </p:spTree>
    <p:extLst>
      <p:ext uri="{BB962C8B-B14F-4D97-AF65-F5344CB8AC3E}">
        <p14:creationId xmlns:p14="http://schemas.microsoft.com/office/powerpoint/2010/main" val="8277951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996940-B73C-430C-844C-F3CE5C7A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23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Рост роли системного аналитика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5B15AE-0956-45F8-8C64-EF730DF5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334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Сравнение с прошлым ассесментом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C65559-8D09-4B02-A921-5A36A4C5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 u="sng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425" b="1" u="sng">
                <a:solidFill>
                  <a:srgbClr val="1D73E8"/>
                </a:solidFill>
                <a:latin typeface="Lato"/>
                <a:ea typeface="Lato"/>
                <a:cs typeface="Lato"/>
              </a:rPr>
              <a:t>INTEGRIX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619CEB-CF1E-4920-B584-027E51AE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DD8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0FE384-244C-4F8F-8954-3F916DC0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627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1D73E8"/>
                </a:solidFill>
                <a:latin typeface="Lato"/>
                <a:ea typeface="Lato"/>
                <a:cs typeface="Lato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684CBA-17B0-40F2-8E01-44D32BD5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433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63799D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63799D"/>
                </a:solidFill>
                <a:latin typeface="Lato"/>
                <a:ea typeface="Lato"/>
                <a:cs typeface="Lato"/>
              </a:rPr>
              <a:t>ОКТЯБРЬ 2025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32F4D8-5485-4976-8378-12383E4C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46672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575">
                <a:solidFill>
                  <a:srgbClr val="203A67"/>
                </a:solidFill>
                <a:latin typeface="Lato"/>
                <a:ea typeface="Lato"/>
                <a:cs typeface="Lato"/>
              </a:defRPr>
            </a:pPr>
            <a:r>
              <a:rPr sz="1575">
                <a:solidFill>
                  <a:srgbClr val="203A67"/>
                </a:solidFill>
                <a:latin typeface="Lato"/>
                <a:ea typeface="Lato"/>
                <a:cs typeface="Lato"/>
              </a:rPr>
              <a:t>Конфигурирование и поддержка услуг АИС МФЦ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575">
                <a:solidFill>
                  <a:srgbClr val="203A67"/>
                </a:solidFill>
                <a:latin typeface="Lato"/>
                <a:ea typeface="Lato"/>
                <a:cs typeface="Lato"/>
              </a:defRPr>
            </a:pPr>
            <a:r>
              <a:rPr sz="1575">
                <a:solidFill>
                  <a:srgbClr val="203A67"/>
                </a:solidFill>
                <a:latin typeface="Lato"/>
                <a:ea typeface="Lato"/>
                <a:cs typeface="Lato"/>
              </a:rPr>
              <a:t>XML/XSD и печатные формы Re:Doc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575">
                <a:solidFill>
                  <a:srgbClr val="203A67"/>
                </a:solidFill>
                <a:latin typeface="Lato"/>
                <a:ea typeface="Lato"/>
                <a:cs typeface="Lato"/>
              </a:defRPr>
            </a:pPr>
            <a:r>
              <a:rPr sz="1575">
                <a:solidFill>
                  <a:srgbClr val="203A67"/>
                </a:solidFill>
                <a:latin typeface="Lato"/>
                <a:ea typeface="Lato"/>
                <a:cs typeface="Lato"/>
              </a:rPr>
              <a:t>Анализ обращений и точечные доработки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575">
                <a:solidFill>
                  <a:srgbClr val="203A67"/>
                </a:solidFill>
                <a:latin typeface="Lato"/>
                <a:ea typeface="Lato"/>
                <a:cs typeface="Lato"/>
              </a:defRPr>
            </a:pPr>
            <a:r>
              <a:rPr sz="1575">
                <a:solidFill>
                  <a:srgbClr val="203A67"/>
                </a:solidFill>
                <a:latin typeface="Lato"/>
                <a:ea typeface="Lato"/>
                <a:cs typeface="Lato"/>
              </a:rPr>
              <a:t>Интеграционное тестирование СМЭВ и ФССП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D66D9A-EE6A-41B9-AD0C-D5C83203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24000"/>
            <a:ext cx="0" cy="381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DD8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CD51E8-2F01-4650-A4BE-1F662B2B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57162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1D73E8"/>
                </a:solidFill>
                <a:latin typeface="Lato"/>
                <a:ea typeface="Lato"/>
                <a:cs typeface="Lato"/>
              </a:rPr>
              <a:t>СЕНТЯБРЬ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52A8B7-6343-4FBC-8983-0538FBBB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190750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575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75">
                <a:solidFill>
                  <a:srgbClr val="102A56"/>
                </a:solidFill>
                <a:latin typeface="Lato"/>
                <a:ea typeface="Lato"/>
                <a:cs typeface="Lato"/>
              </a:rPr>
              <a:t>Целевые модели данных и сценарии ФРГУ 3.0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575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75">
                <a:solidFill>
                  <a:srgbClr val="102A56"/>
                </a:solidFill>
                <a:latin typeface="Lato"/>
                <a:ea typeface="Lato"/>
                <a:cs typeface="Lato"/>
              </a:rPr>
              <a:t>Архитектура C#-микросервисов и API-контракты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575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75">
                <a:solidFill>
                  <a:srgbClr val="102A56"/>
                </a:solidFill>
                <a:latin typeface="Lato"/>
                <a:ea typeface="Lato"/>
                <a:cs typeface="Lato"/>
              </a:rPr>
              <a:t>Постановка задач back-end и front-end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575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75">
                <a:solidFill>
                  <a:srgbClr val="102A56"/>
                </a:solidFill>
                <a:latin typeface="Lato"/>
                <a:ea typeface="Lato"/>
                <a:cs typeface="Lato"/>
              </a:rPr>
              <a:t>Сквозное тестирование и вывод в продуктив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575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75">
                <a:solidFill>
                  <a:srgbClr val="102A56"/>
                </a:solidFill>
                <a:latin typeface="Lato"/>
                <a:ea typeface="Lato"/>
                <a:cs typeface="Lato"/>
              </a:rPr>
              <a:t>Пресейл, демостенды и прототипы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7090EA-A6AE-4C3A-AA2E-2EB90A026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52450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Главное изменение: от точечных доработок к ведению крупных сценариев от требований до проверки реализации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0D27ED-7A59-4C69-A212-2A2519DD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8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Источники: assessment_report.pdf и выгрузка Redmine 2025–2026</a:t>
            </a:r>
          </a:p>
        </p:txBody>
      </p:sp>
    </p:spTree>
    <p:extLst>
      <p:ext uri="{BB962C8B-B14F-4D97-AF65-F5344CB8AC3E}">
        <p14:creationId xmlns:p14="http://schemas.microsoft.com/office/powerpoint/2010/main" val="10631663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25B8D5-3CE9-4C29-8073-9E413474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23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Вклад в полный цикл задачи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239239-A3C9-4E8D-983B-C5B6D8C7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334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От исходной проблемы до проверенного сценария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4DB995-51F3-431C-8110-3538F31E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 u="sng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425" b="1" u="sng">
                <a:solidFill>
                  <a:srgbClr val="1D73E8"/>
                </a:solidFill>
                <a:latin typeface="Lato"/>
                <a:ea typeface="Lato"/>
                <a:cs typeface="Lato"/>
              </a:rPr>
              <a:t>INTEGRIX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302307-E598-47A5-A320-422D4F4C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DD8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C58030-9721-48AD-A038-83F991F9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627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1D73E8"/>
                </a:solidFill>
                <a:latin typeface="Lato"/>
                <a:ea typeface="Lato"/>
                <a:cs typeface="Lato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CC4497-08BA-4778-BE27-B7F29B8A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A8CEFF"/>
                </a:solidFill>
                <a:latin typeface="Lato"/>
                <a:ea typeface="Lato"/>
                <a:cs typeface="Lato"/>
              </a:defRPr>
            </a:pPr>
            <a:r>
              <a:rPr sz="2850" b="1">
                <a:solidFill>
                  <a:srgbClr val="A8CEFF"/>
                </a:solidFill>
                <a:latin typeface="Lato"/>
                <a:ea typeface="Lato"/>
                <a:cs typeface="Lat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A7C829-98F9-499A-BF8D-1C4FB8C7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АНАЛИЗ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7A2E34-4D9A-4439-B0F8-1009E514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2238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Документация ЕПГУ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02A56"/>
                </a:solidFill>
                <a:latin typeface="Lato"/>
                <a:ea typeface="Lato"/>
                <a:cs typeface="Lato"/>
              </a:rPr>
              <a:t>ФРГУ 3.0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Доступность сайтов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60AF94-BF8D-4BFB-ACE2-2DF89594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666875"/>
            <a:ext cx="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DD8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4F6115-C102-484F-A8F6-6D28FE8B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6687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A8CEFF"/>
                </a:solidFill>
                <a:latin typeface="Lato"/>
                <a:ea typeface="Lato"/>
                <a:cs typeface="Lato"/>
              </a:defRPr>
            </a:pPr>
            <a:r>
              <a:rPr sz="2850" b="1">
                <a:solidFill>
                  <a:srgbClr val="A8CEFF"/>
                </a:solidFill>
                <a:latin typeface="Lato"/>
                <a:ea typeface="Lato"/>
                <a:cs typeface="Lat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049EE0-78B1-439F-AF6A-E41711D1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33625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ПРОЕКТИРОВАНИЕ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376024-43C0-42BA-B0B4-4065E242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00375"/>
            <a:ext cx="2238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Модели данных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02A56"/>
                </a:solidFill>
                <a:latin typeface="Lato"/>
                <a:ea typeface="Lato"/>
                <a:cs typeface="Lato"/>
              </a:rPr>
              <a:t>Сценарии услуг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Микросервисы и 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68CE4A-2BC7-4D78-AFA4-DDE0C1225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DD8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6B95F1-A68F-4FC6-B263-0F7458232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6687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A8CEFF"/>
                </a:solidFill>
                <a:latin typeface="Lato"/>
                <a:ea typeface="Lato"/>
                <a:cs typeface="Lato"/>
              </a:defRPr>
            </a:pPr>
            <a:r>
              <a:rPr sz="2850" b="1">
                <a:solidFill>
                  <a:srgbClr val="A8CEFF"/>
                </a:solidFill>
                <a:latin typeface="Lato"/>
                <a:ea typeface="Lato"/>
                <a:cs typeface="Lat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0403B5-EF87-4C23-858B-ABF27621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33625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ПОСТАНОВКА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6257D2-A56D-4803-8E1E-CE0FED434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2238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Задачи back-end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Задачи front-end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Консультации команды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435FB8-DE0C-4377-949A-777F527B4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66875"/>
            <a:ext cx="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DD8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9991A0-5CE7-4F78-82CA-2135F86B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6687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A8CEFF"/>
                </a:solidFill>
                <a:latin typeface="Lato"/>
                <a:ea typeface="Lato"/>
                <a:cs typeface="Lato"/>
              </a:defRPr>
            </a:pPr>
            <a:r>
              <a:rPr sz="2850" b="1">
                <a:solidFill>
                  <a:srgbClr val="A8CEFF"/>
                </a:solidFill>
                <a:latin typeface="Lato"/>
                <a:ea typeface="Lato"/>
                <a:cs typeface="Lato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07FC8A-2A15-4C5F-8B3A-7C174D14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33625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ПРОВЕРКА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84A82A-623F-4C90-9136-B84DB136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00375"/>
            <a:ext cx="2238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02A56"/>
                </a:solidFill>
                <a:latin typeface="Lato"/>
                <a:ea typeface="Lato"/>
                <a:cs typeface="Lato"/>
              </a:rPr>
              <a:t>Re:Turn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02A56"/>
                </a:solidFill>
                <a:latin typeface="Lato"/>
                <a:ea typeface="Lato"/>
                <a:cs typeface="Lato"/>
              </a:rPr>
              <a:t>СБП ФК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02A56"/>
                </a:solidFill>
                <a:latin typeface="Lato"/>
                <a:ea typeface="Lato"/>
                <a:cs typeface="Lato"/>
              </a:rPr>
              <a:t>ФССП и МИЗО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4ED574-26A1-4CBE-B061-DEBB8A8C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4350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Моя зона ответственности расширилась: теперь я связываю бизнес-контекст, техническое решение и приёмку результата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B74292-0BC9-4E5D-92BE-08FD42B8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8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Примеры: ФРГУ 3.0, ЕПГУ, MAX, Re:Turn, СБП ФК</a:t>
            </a:r>
          </a:p>
        </p:txBody>
      </p:sp>
    </p:spTree>
    <p:extLst>
      <p:ext uri="{BB962C8B-B14F-4D97-AF65-F5344CB8AC3E}">
        <p14:creationId xmlns:p14="http://schemas.microsoft.com/office/powerpoint/2010/main" val="2056166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">
            <a:extLst xmlns:a="http://schemas.openxmlformats.org/drawingml/2006/main">
              <a:ext uri="{FF2B5EF4-FFF2-40B4-BE49-F238E27FC236}">
                <a16:creationId xmlns:a16="http://schemas.microsoft.com/office/drawing/2014/main" id="{32F47D03-DFE8-42A6-9345-199FFD20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2325" b="1">
                <a:solidFill>
                  <a:srgbClr val="102A56"/>
                </a:solidFill>
                <a:latin typeface="Lato"/>
                <a:ea typeface="Lato"/>
                <a:cs typeface="Lato"/>
              </a:rPr>
              <a:t>ИИ-инструменты: от обучения к практике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03755F0-675C-41FE-8DBA-D410E003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334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E6D8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E6D83"/>
                </a:solidFill>
                <a:latin typeface="Lato"/>
                <a:ea typeface="Lato"/>
                <a:cs typeface="Lato"/>
              </a:rPr>
              <a:t>Два курса и 22 воркшопа сформировали повторяемый процесс работы с агентами</a:t>
            </a:r>
          </a:p>
        </p:txBody>
      </p:sp>
      <p:sp>
        <p:nvSpPr>
          <p:cNvPr id="3" name="brand">
            <a:extLst xmlns:a="http://schemas.openxmlformats.org/drawingml/2006/main">
              <a:ext uri="{FF2B5EF4-FFF2-40B4-BE49-F238E27FC236}">
                <a16:creationId xmlns:a16="http://schemas.microsoft.com/office/drawing/2014/main" id="{EC47D5BC-E304-4AFD-B37F-6206CA264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06680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73E8"/>
            </a:solidFill>
            <a:prstDash val="solid"/>
          </a:ln>
        </p:spPr>
        <p:txBody>
          <a:bodyPr xmlns:a="http://schemas.openxmlformats.org/drawingml/2006/main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8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INTEGRIX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4203BD9-1697-4506-AD60-767827A5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627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1D73E8"/>
                </a:solidFill>
                <a:latin typeface="Lato"/>
                <a:ea typeface="Lato"/>
                <a:cs typeface="Lato"/>
              </a:rPr>
              <a:t>11</a:t>
            </a:r>
          </a:p>
        </p:txBody>
      </p:sp>
      <p:sp>
        <p:nvSpPr>
          <p:cNvPr id="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BC10F28-634C-4E07-8E4E-EF372F5D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825" b="0">
                <a:solidFill>
                  <a:srgbClr val="1D73E8"/>
                </a:solidFill>
                <a:latin typeface="Lato"/>
                <a:ea typeface="Lato"/>
                <a:cs typeface="Lato"/>
              </a:rPr>
              <a:t>Источник: презентация Федота от 13.08.2026, слайды 2–4</a:t>
            </a:r>
          </a:p>
        </p:txBody>
      </p:sp>
      <p:sp>
        <p:nvSpPr>
          <p:cNvPr id="6" name="column-number-1">
            <a:extLst xmlns:a="http://schemas.openxmlformats.org/drawingml/2006/main">
              <a:ext uri="{FF2B5EF4-FFF2-40B4-BE49-F238E27FC236}">
                <a16:creationId xmlns:a16="http://schemas.microsoft.com/office/drawing/2014/main" id="{E2AEB0CE-6D28-4D8E-A51E-F23BE843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A8CEFF"/>
                </a:solidFill>
                <a:latin typeface="Lato"/>
                <a:ea typeface="Lato"/>
                <a:cs typeface="Lato"/>
              </a:defRPr>
            </a:pPr>
            <a:r>
              <a:rPr sz="2850" b="1">
                <a:solidFill>
                  <a:srgbClr val="A8CEFF"/>
                </a:solidFill>
                <a:latin typeface="Lato"/>
                <a:ea typeface="Lato"/>
                <a:cs typeface="Lato"/>
              </a:rPr>
              <a:t>01</a:t>
            </a:r>
          </a:p>
        </p:txBody>
      </p:sp>
      <p:sp>
        <p:nvSpPr>
          <p:cNvPr id="7" name="column-title-1">
            <a:extLst xmlns:a="http://schemas.openxmlformats.org/drawingml/2006/main">
              <a:ext uri="{FF2B5EF4-FFF2-40B4-BE49-F238E27FC236}">
                <a16:creationId xmlns:a16="http://schemas.microsoft.com/office/drawing/2014/main" id="{7A66D1EF-35F9-48CA-94E8-8A89DFAD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ОСНОВЫ</a:t>
            </a:r>
          </a:p>
        </p:txBody>
      </p:sp>
      <p:sp>
        <p:nvSpPr>
          <p:cNvPr id="8" name="column-body-1">
            <a:extLst xmlns:a="http://schemas.openxmlformats.org/drawingml/2006/main">
              <a:ext uri="{FF2B5EF4-FFF2-40B4-BE49-F238E27FC236}">
                <a16:creationId xmlns:a16="http://schemas.microsoft.com/office/drawing/2014/main" id="{42CCBED1-6FCA-4312-9434-5AA84F4F2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3048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Контекст и сессии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02A56"/>
                </a:solidFill>
                <a:latin typeface="Lato"/>
                <a:ea typeface="Lato"/>
                <a:cs typeface="Lato"/>
              </a:rPr>
              <a:t>CLAUDE.md и память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Промпты и работа с ошибками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02A56"/>
                </a:solidFill>
                <a:latin typeface="Lato"/>
                <a:ea typeface="Lato"/>
                <a:cs typeface="Lato"/>
              </a:rPr>
              <a:t>Git и code review</a:t>
            </a:r>
          </a:p>
        </p:txBody>
      </p:sp>
      <p:sp>
        <p:nvSpPr>
          <p:cNvPr id="9" name="column-number-2">
            <a:extLst xmlns:a="http://schemas.openxmlformats.org/drawingml/2006/main">
              <a:ext uri="{FF2B5EF4-FFF2-40B4-BE49-F238E27FC236}">
                <a16:creationId xmlns:a16="http://schemas.microsoft.com/office/drawing/2014/main" id="{D9A0F908-DED5-4E49-9A50-0FA127C6B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19250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A8CEFF"/>
                </a:solidFill>
                <a:latin typeface="Lato"/>
                <a:ea typeface="Lato"/>
                <a:cs typeface="Lato"/>
              </a:defRPr>
            </a:pPr>
            <a:r>
              <a:rPr sz="2850" b="1">
                <a:solidFill>
                  <a:srgbClr val="A8CEFF"/>
                </a:solidFill>
                <a:latin typeface="Lato"/>
                <a:ea typeface="Lato"/>
                <a:cs typeface="Lato"/>
              </a:rPr>
              <a:t>02</a:t>
            </a:r>
          </a:p>
        </p:txBody>
      </p:sp>
      <p:sp>
        <p:nvSpPr>
          <p:cNvPr id="10" name="column-title-2">
            <a:extLst xmlns:a="http://schemas.openxmlformats.org/drawingml/2006/main">
              <a:ext uri="{FF2B5EF4-FFF2-40B4-BE49-F238E27FC236}">
                <a16:creationId xmlns:a16="http://schemas.microsoft.com/office/drawing/2014/main" id="{1701D9AB-5466-4093-AA74-F40F3421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907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ОРКЕСТРАЦИЯ</a:t>
            </a:r>
          </a:p>
        </p:txBody>
      </p:sp>
      <p:sp>
        <p:nvSpPr>
          <p:cNvPr id="11" name="column-body-2">
            <a:extLst xmlns:a="http://schemas.openxmlformats.org/drawingml/2006/main">
              <a:ext uri="{FF2B5EF4-FFF2-40B4-BE49-F238E27FC236}">
                <a16:creationId xmlns:a16="http://schemas.microsoft.com/office/drawing/2014/main" id="{7FDE1C33-2606-4B86-87A9-15371B85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81300"/>
            <a:ext cx="3048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02A56"/>
                </a:solidFill>
                <a:latin typeface="Lato"/>
                <a:ea typeface="Lato"/>
                <a:cs typeface="Lato"/>
              </a:rPr>
              <a:t>Subagents и Agent Teams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Передача контекста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02A56"/>
                </a:solidFill>
                <a:latin typeface="Lato"/>
                <a:ea typeface="Lato"/>
                <a:cs typeface="Lato"/>
              </a:rPr>
              <a:t>Plugins и MCP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02A56"/>
                </a:solidFill>
                <a:latin typeface="Lato"/>
                <a:ea typeface="Lato"/>
                <a:cs typeface="Lato"/>
              </a:rPr>
              <a:t>Работа с несколькими агентами</a:t>
            </a:r>
          </a:p>
        </p:txBody>
      </p:sp>
      <p:sp>
        <p:nvSpPr>
          <p:cNvPr id="12" name="column-number-3">
            <a:extLst xmlns:a="http://schemas.openxmlformats.org/drawingml/2006/main">
              <a:ext uri="{FF2B5EF4-FFF2-40B4-BE49-F238E27FC236}">
                <a16:creationId xmlns:a16="http://schemas.microsoft.com/office/drawing/2014/main" id="{C528FE8D-9944-4A46-96A5-7157E841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19250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A8CEFF"/>
                </a:solidFill>
                <a:latin typeface="Lato"/>
                <a:ea typeface="Lato"/>
                <a:cs typeface="Lato"/>
              </a:defRPr>
            </a:pPr>
            <a:r>
              <a:rPr sz="2850" b="1">
                <a:solidFill>
                  <a:srgbClr val="A8CEFF"/>
                </a:solidFill>
                <a:latin typeface="Lato"/>
                <a:ea typeface="Lato"/>
                <a:cs typeface="Lato"/>
              </a:rPr>
              <a:t>03</a:t>
            </a:r>
          </a:p>
        </p:txBody>
      </p:sp>
      <p:sp>
        <p:nvSpPr>
          <p:cNvPr id="13" name="column-title-3">
            <a:extLst xmlns:a="http://schemas.openxmlformats.org/drawingml/2006/main">
              <a:ext uri="{FF2B5EF4-FFF2-40B4-BE49-F238E27FC236}">
                <a16:creationId xmlns:a16="http://schemas.microsoft.com/office/drawing/2014/main" id="{71091B65-8810-4185-8297-6F80DE5B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907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АВТОМАТИЗАЦИЯ</a:t>
            </a:r>
          </a:p>
        </p:txBody>
      </p:sp>
      <p:sp>
        <p:nvSpPr>
          <p:cNvPr id="14" name="column-body-3">
            <a:extLst xmlns:a="http://schemas.openxmlformats.org/drawingml/2006/main">
              <a:ext uri="{FF2B5EF4-FFF2-40B4-BE49-F238E27FC236}">
                <a16:creationId xmlns:a16="http://schemas.microsoft.com/office/drawing/2014/main" id="{1EA457BB-19BA-4F61-A0F3-71D7E69C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81300"/>
            <a:ext cx="3048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02A56"/>
                </a:solidFill>
                <a:latin typeface="Lato"/>
                <a:ea typeface="Lato"/>
                <a:cs typeface="Lato"/>
              </a:rPr>
              <a:t>Skills и Hooks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02A56"/>
                </a:solidFill>
                <a:latin typeface="Lato"/>
                <a:ea typeface="Lato"/>
                <a:cs typeface="Lato"/>
              </a:rPr>
              <a:t>Agent SDK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02A56"/>
                </a:solidFill>
                <a:latin typeface="Lato"/>
                <a:ea typeface="Lato"/>
                <a:cs typeface="Lato"/>
              </a:rPr>
              <a:t>Headless Mode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Интеграции с рабочими системами</a:t>
            </a:r>
          </a:p>
        </p:txBody>
      </p:sp>
      <p:sp>
        <p:nvSpPr>
          <p:cNvPr id="15" name="learning-result">
            <a:extLst xmlns:a="http://schemas.openxmlformats.org/drawingml/2006/main">
              <a:ext uri="{FF2B5EF4-FFF2-40B4-BE49-F238E27FC236}">
                <a16:creationId xmlns:a16="http://schemas.microsoft.com/office/drawing/2014/main" id="{D91D6E24-86E1-46BE-81F3-04D3F660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81625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4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Результат: ИИ-инструменты применены в корпоративном ассистенте, автотестах и генерации модулей</a:t>
            </a:r>
          </a:p>
        </p:txBody>
      </p:sp>
    </p:spTree>
    <p:extLst>
      <p:ext uri="{BB962C8B-B14F-4D97-AF65-F5344CB8AC3E}">
        <p14:creationId xmlns:p14="http://schemas.microsoft.com/office/powerpoint/2010/main" val="180446357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">
            <a:extLst xmlns:a="http://schemas.openxmlformats.org/drawingml/2006/main">
              <a:ext uri="{FF2B5EF4-FFF2-40B4-BE49-F238E27FC236}">
                <a16:creationId xmlns:a16="http://schemas.microsoft.com/office/drawing/2014/main" id="{AB48E1ED-5D7D-414C-8BEB-C6C006EB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2325" b="1">
                <a:solidFill>
                  <a:srgbClr val="102A56"/>
                </a:solidFill>
                <a:latin typeface="Lato"/>
                <a:ea typeface="Lato"/>
                <a:cs typeface="Lato"/>
              </a:rPr>
              <a:t>Федот: корпоративный ИИ-ассистент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1EB55F0-60C9-4947-8F0F-5274E37A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334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E6D8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E6D83"/>
                </a:solidFill>
                <a:latin typeface="Lato"/>
                <a:ea typeface="Lato"/>
                <a:cs typeface="Lato"/>
              </a:rPr>
              <a:t>Рабочие знания, задачи и учёт времени доступны в Telegram и MAX</a:t>
            </a:r>
          </a:p>
        </p:txBody>
      </p:sp>
      <p:sp>
        <p:nvSpPr>
          <p:cNvPr id="3" name="brand">
            <a:extLst xmlns:a="http://schemas.openxmlformats.org/drawingml/2006/main">
              <a:ext uri="{FF2B5EF4-FFF2-40B4-BE49-F238E27FC236}">
                <a16:creationId xmlns:a16="http://schemas.microsoft.com/office/drawing/2014/main" id="{2AC36DFB-F3C6-43BD-B5A7-3C90091BA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06680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73E8"/>
            </a:solidFill>
            <a:prstDash val="solid"/>
          </a:ln>
        </p:spPr>
        <p:txBody>
          <a:bodyPr xmlns:a="http://schemas.openxmlformats.org/drawingml/2006/main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8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INTEGRIX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1071DBA-2423-4720-B2AD-CC378734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627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1D73E8"/>
                </a:solidFill>
                <a:latin typeface="Lato"/>
                <a:ea typeface="Lato"/>
                <a:cs typeface="Lato"/>
              </a:rPr>
              <a:t>12</a:t>
            </a:r>
          </a:p>
        </p:txBody>
      </p:sp>
      <p:sp>
        <p:nvSpPr>
          <p:cNvPr id="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D9B6ACD7-ABB6-44EC-AE2A-1001276C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825" b="0">
                <a:solidFill>
                  <a:srgbClr val="1D73E8"/>
                </a:solidFill>
                <a:latin typeface="Lato"/>
                <a:ea typeface="Lato"/>
                <a:cs typeface="Lato"/>
              </a:rPr>
              <a:t>Источник: презентация Федота от 13.08.2026, слайды 6–20</a:t>
            </a:r>
          </a:p>
        </p:txBody>
      </p:sp>
      <p:sp>
        <p:nvSpPr>
          <p:cNvPr id="6" name="knowledge-title">
            <a:extLst xmlns:a="http://schemas.openxmlformats.org/drawingml/2006/main">
              <a:ext uri="{FF2B5EF4-FFF2-40B4-BE49-F238E27FC236}">
                <a16:creationId xmlns:a16="http://schemas.microsoft.com/office/drawing/2014/main" id="{0A3C0677-D652-4FCF-A45A-4300317D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19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1D73E8"/>
                </a:solidFill>
                <a:latin typeface="Lato"/>
                <a:ea typeface="Lato"/>
                <a:cs typeface="Lato"/>
              </a:rPr>
              <a:t>РАБОЧИЕ ЗНАНИЯ</a:t>
            </a:r>
          </a:p>
        </p:txBody>
      </p:sp>
      <p:sp>
        <p:nvSpPr>
          <p:cNvPr id="7" name="knowledge-body">
            <a:extLst xmlns:a="http://schemas.openxmlformats.org/drawingml/2006/main">
              <a:ext uri="{FF2B5EF4-FFF2-40B4-BE49-F238E27FC236}">
                <a16:creationId xmlns:a16="http://schemas.microsoft.com/office/drawing/2014/main" id="{988727B5-0D9C-4B3C-AD8F-8DF4E161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81200"/>
            <a:ext cx="4905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ИИ-поиск по базе знаний и задачам Redmine. Ответ содержит ссылки на исходные материалы.</a:t>
            </a:r>
          </a:p>
        </p:txBody>
      </p:sp>
      <p:sp>
        <p:nvSpPr>
          <p:cNvPr id="8" name="tasks-title">
            <a:extLst xmlns:a="http://schemas.openxmlformats.org/drawingml/2006/main">
              <a:ext uri="{FF2B5EF4-FFF2-40B4-BE49-F238E27FC236}">
                <a16:creationId xmlns:a16="http://schemas.microsoft.com/office/drawing/2014/main" id="{9BE9D68F-8ADA-443F-B7BB-EA07FFE0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ЗАДАЧИ И УВЕДОМЛЕНИЯ</a:t>
            </a:r>
          </a:p>
        </p:txBody>
      </p:sp>
      <p:sp>
        <p:nvSpPr>
          <p:cNvPr id="9" name="tasks-body">
            <a:extLst xmlns:a="http://schemas.openxmlformats.org/drawingml/2006/main">
              <a:ext uri="{FF2B5EF4-FFF2-40B4-BE49-F238E27FC236}">
                <a16:creationId xmlns:a16="http://schemas.microsoft.com/office/drawing/2014/main" id="{7861069B-336B-43A6-9BE1-FA23FAFE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19450"/>
            <a:ext cx="4905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Создание задачи из обычного описания с проверкой перед отправкой. Изменения и комментарии приходят в чат.</a:t>
            </a:r>
          </a:p>
        </p:txBody>
      </p:sp>
      <p:sp>
        <p:nvSpPr>
          <p:cNvPr id="10" name="time-title">
            <a:extLst xmlns:a="http://schemas.openxmlformats.org/drawingml/2006/main">
              <a:ext uri="{FF2B5EF4-FFF2-40B4-BE49-F238E27FC236}">
                <a16:creationId xmlns:a16="http://schemas.microsoft.com/office/drawing/2014/main" id="{9C02BBB2-EA3F-4F32-BA17-1041F54B6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1D73E8"/>
                </a:solidFill>
                <a:latin typeface="Lato"/>
                <a:ea typeface="Lato"/>
                <a:cs typeface="Lato"/>
              </a:rPr>
              <a:t>MINI APP И УЧЁТ ВРЕМЕНИ</a:t>
            </a:r>
          </a:p>
        </p:txBody>
      </p:sp>
      <p:sp>
        <p:nvSpPr>
          <p:cNvPr id="11" name="time-body">
            <a:extLst xmlns:a="http://schemas.openxmlformats.org/drawingml/2006/main">
              <a:ext uri="{FF2B5EF4-FFF2-40B4-BE49-F238E27FC236}">
                <a16:creationId xmlns:a16="http://schemas.microsoft.com/office/drawing/2014/main" id="{21DA5BB4-228A-41C8-96E0-6EE23DFB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48200"/>
            <a:ext cx="4905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Рабочий день, задачи, календарь списаний и настройки собраны в одном мини-приложении.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a0b99d0f12417b"/>
          <a:stretch xmlns:a="http://schemas.openxmlformats.org/drawingml/2006/main"/>
        </p:blipFill>
        <p:spPr>
          <a:xfrm xmlns:a="http://schemas.openxmlformats.org/drawingml/2006/main">
            <a:off x="6572250" y="2046552"/>
            <a:ext cx="2238375" cy="2860146"/>
          </a:xfrm>
          <a:prstGeom xmlns:a="http://schemas.openxmlformats.org/drawingml/2006/main" prst="rect">
            <a:avLst/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6b77628f904ce0"/>
          <a:stretch xmlns:a="http://schemas.openxmlformats.org/drawingml/2006/main"/>
        </p:blipFill>
        <p:spPr>
          <a:xfrm xmlns:a="http://schemas.openxmlformats.org/drawingml/2006/main">
            <a:off x="9115858" y="1476375"/>
            <a:ext cx="2199409" cy="4000500"/>
          </a:xfrm>
          <a:prstGeom xmlns:a="http://schemas.openxmlformats.org/drawingml/2006/main" prst="rect">
            <a:avLst/>
          </a:prstGeom>
        </p:spPr>
      </p:pic>
      <p:sp>
        <p:nvSpPr>
          <p:cNvPr id="14" name="knowledge-caption">
            <a:extLst xmlns:a="http://schemas.openxmlformats.org/drawingml/2006/main">
              <a:ext uri="{FF2B5EF4-FFF2-40B4-BE49-F238E27FC236}">
                <a16:creationId xmlns:a16="http://schemas.microsoft.com/office/drawing/2014/main" id="{CD15F770-F1BE-49E9-B118-3EA8CE9B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572125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1D73E8"/>
                </a:solidFill>
                <a:latin typeface="Lato"/>
                <a:ea typeface="Lato"/>
                <a:cs typeface="Lato"/>
              </a:rPr>
              <a:t>Поиск по рабочему контексту</a:t>
            </a:r>
          </a:p>
        </p:txBody>
      </p:sp>
      <p:sp>
        <p:nvSpPr>
          <p:cNvPr id="15" name="mini-app-caption">
            <a:extLst xmlns:a="http://schemas.openxmlformats.org/drawingml/2006/main">
              <a:ext uri="{FF2B5EF4-FFF2-40B4-BE49-F238E27FC236}">
                <a16:creationId xmlns:a16="http://schemas.microsoft.com/office/drawing/2014/main" id="{ACFE3225-D92D-42A7-A2A3-3E544C26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572125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1D73E8"/>
                </a:solidFill>
                <a:latin typeface="Lato"/>
                <a:ea typeface="Lato"/>
                <a:cs typeface="Lato"/>
              </a:rPr>
              <a:t>Рабочий день в Mini App</a:t>
            </a:r>
          </a:p>
        </p:txBody>
      </p:sp>
    </p:spTree>
    <p:extLst>
      <p:ext uri="{BB962C8B-B14F-4D97-AF65-F5344CB8AC3E}">
        <p14:creationId xmlns:p14="http://schemas.microsoft.com/office/powerpoint/2010/main" val="97216200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">
            <a:extLst xmlns:a="http://schemas.openxmlformats.org/drawingml/2006/main">
              <a:ext uri="{FF2B5EF4-FFF2-40B4-BE49-F238E27FC236}">
                <a16:creationId xmlns:a16="http://schemas.microsoft.com/office/drawing/2014/main" id="{C8EC4E53-9400-4604-A8BE-2B55C96A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2325" b="1">
                <a:solidFill>
                  <a:srgbClr val="102A56"/>
                </a:solidFill>
                <a:latin typeface="Lato"/>
                <a:ea typeface="Lato"/>
                <a:cs typeface="Lato"/>
              </a:rPr>
              <a:t>ИИ-агенты в инженерном процессе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43DEF74-535E-40E1-B068-6480BD2F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334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E6D8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E6D83"/>
                </a:solidFill>
                <a:latin typeface="Lato"/>
                <a:ea typeface="Lato"/>
                <a:cs typeface="Lato"/>
              </a:rPr>
              <a:t>Навыки оформлены в повторяемые сценарии разработки и тестирования</a:t>
            </a:r>
          </a:p>
        </p:txBody>
      </p:sp>
      <p:sp>
        <p:nvSpPr>
          <p:cNvPr id="3" name="brand">
            <a:extLst xmlns:a="http://schemas.openxmlformats.org/drawingml/2006/main">
              <a:ext uri="{FF2B5EF4-FFF2-40B4-BE49-F238E27FC236}">
                <a16:creationId xmlns:a16="http://schemas.microsoft.com/office/drawing/2014/main" id="{AAFC46DE-E8A7-45EE-B34A-67507CC3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06680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73E8"/>
            </a:solidFill>
            <a:prstDash val="solid"/>
          </a:ln>
        </p:spPr>
        <p:txBody>
          <a:bodyPr xmlns:a="http://schemas.openxmlformats.org/drawingml/2006/main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8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INTEGRIX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F19B3EA-C8E5-4C28-8E83-0E1519351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627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1D73E8"/>
                </a:solidFill>
                <a:latin typeface="Lato"/>
                <a:ea typeface="Lato"/>
                <a:cs typeface="Lato"/>
              </a:rPr>
              <a:t>13</a:t>
            </a:r>
          </a:p>
        </p:txBody>
      </p:sp>
      <p:sp>
        <p:nvSpPr>
          <p:cNvPr id="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2308606B-C0B5-4845-A40B-9829EF36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825" b="0">
                <a:solidFill>
                  <a:srgbClr val="1D73E8"/>
                </a:solidFill>
                <a:latin typeface="Lato"/>
                <a:ea typeface="Lato"/>
                <a:cs typeface="Lato"/>
              </a:rPr>
              <a:t>Источник: презентация Федота от 13.08.2026, слайды 21–23</a:t>
            </a:r>
          </a:p>
        </p:txBody>
      </p:sp>
      <p:sp>
        <p:nvSpPr>
          <p:cNvPr id="6" name="browser-tests-title">
            <a:extLst xmlns:a="http://schemas.openxmlformats.org/drawingml/2006/main">
              <a:ext uri="{FF2B5EF4-FFF2-40B4-BE49-F238E27FC236}">
                <a16:creationId xmlns:a16="http://schemas.microsoft.com/office/drawing/2014/main" id="{C9E19282-05B8-46E4-A5C2-17A33C89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БРАУЗЕРНЫЕ ТЕСТЫ</a:t>
            </a:r>
          </a:p>
        </p:txBody>
      </p:sp>
      <p:sp>
        <p:nvSpPr>
          <p:cNvPr id="7" name="browser-tests-body">
            <a:extLst xmlns:a="http://schemas.openxmlformats.org/drawingml/2006/main">
              <a:ext uri="{FF2B5EF4-FFF2-40B4-BE49-F238E27FC236}">
                <a16:creationId xmlns:a16="http://schemas.microsoft.com/office/drawing/2014/main" id="{7AF966BB-3C20-4CB6-B05C-74E1DAAD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33575"/>
            <a:ext cx="4905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Агент проходит ручные кейсы в Chrome и фиксирует PASS, FAIL или BLOCKED с доказательствами. Демонстрационный прогон: 70 кейсов за 55 минут.</a:t>
            </a:r>
          </a:p>
        </p:txBody>
      </p:sp>
      <p:sp>
        <p:nvSpPr>
          <p:cNvPr id="8" name="module-generation-title">
            <a:extLst xmlns:a="http://schemas.openxmlformats.org/drawingml/2006/main">
              <a:ext uri="{FF2B5EF4-FFF2-40B4-BE49-F238E27FC236}">
                <a16:creationId xmlns:a16="http://schemas.microsoft.com/office/drawing/2014/main" id="{0E542962-9258-43BC-B547-DC84CC8D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956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ГЕНЕРАЦИЯ МОДУЛЕЙ</a:t>
            </a:r>
          </a:p>
        </p:txBody>
      </p:sp>
      <p:sp>
        <p:nvSpPr>
          <p:cNvPr id="9" name="module-generation-body">
            <a:extLst xmlns:a="http://schemas.openxmlformats.org/drawingml/2006/main">
              <a:ext uri="{FF2B5EF4-FFF2-40B4-BE49-F238E27FC236}">
                <a16:creationId xmlns:a16="http://schemas.microsoft.com/office/drawing/2014/main" id="{DDD71C69-79A2-4438-854D-119EB16C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57575"/>
            <a:ext cx="4905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Скилл bot-module-new создаёт модуль чат-бота по UnifiedBotPlatform.Sdk, Clean Architecture, CI и Docker.</a:t>
            </a:r>
          </a:p>
        </p:txBody>
      </p:sp>
      <p:sp>
        <p:nvSpPr>
          <p:cNvPr id="10" name="cloud-prototypes-title">
            <a:extLst xmlns:a="http://schemas.openxmlformats.org/drawingml/2006/main">
              <a:ext uri="{FF2B5EF4-FFF2-40B4-BE49-F238E27FC236}">
                <a16:creationId xmlns:a16="http://schemas.microsoft.com/office/drawing/2014/main" id="{382FB315-5F1B-41C5-ACCA-29397E07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243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ОБЛАЧНЫЕ ПРОТОТИПЫ</a:t>
            </a:r>
          </a:p>
        </p:txBody>
      </p:sp>
      <p:sp>
        <p:nvSpPr>
          <p:cNvPr id="11" name="cloud-prototypes-body">
            <a:extLst xmlns:a="http://schemas.openxmlformats.org/drawingml/2006/main">
              <a:ext uri="{FF2B5EF4-FFF2-40B4-BE49-F238E27FC236}">
                <a16:creationId xmlns:a16="http://schemas.microsoft.com/office/drawing/2014/main" id="{270AF1AE-25EF-4170-9716-7D950CA1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86325"/>
            <a:ext cx="4905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Cloud Code собирает Mini App и сценарий бота из исходных данных. Так создан навигатор мер поддержки.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0ab51b045a4317"/>
          <a:stretch xmlns:a="http://schemas.openxmlformats.org/drawingml/2006/main"/>
        </p:blipFill>
        <p:spPr>
          <a:xfrm xmlns:a="http://schemas.openxmlformats.org/drawingml/2006/main">
            <a:off x="6146321" y="1571625"/>
            <a:ext cx="5233358" cy="4333875"/>
          </a:xfrm>
          <a:prstGeom xmlns:a="http://schemas.openxmlformats.org/drawingml/2006/main" prst="rect">
            <a:avLst/>
          </a:prstGeom>
        </p:spPr>
      </p:pic>
      <p:sp>
        <p:nvSpPr>
          <p:cNvPr id="13" name="agent-result">
            <a:extLst xmlns:a="http://schemas.openxmlformats.org/drawingml/2006/main">
              <a:ext uri="{FF2B5EF4-FFF2-40B4-BE49-F238E27FC236}">
                <a16:creationId xmlns:a16="http://schemas.microsoft.com/office/drawing/2014/main" id="{35D67E4C-9055-4AC5-822B-DC93C05B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67375"/>
            <a:ext cx="5000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27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Результат: правила команды превращены в исполняемые инструкции для агентов</a:t>
            </a:r>
          </a:p>
        </p:txBody>
      </p:sp>
    </p:spTree>
    <p:extLst>
      <p:ext uri="{BB962C8B-B14F-4D97-AF65-F5344CB8AC3E}">
        <p14:creationId xmlns:p14="http://schemas.microsoft.com/office/powerpoint/2010/main" val="73183640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221E51-2CF6-4D6B-8041-1A9260A6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23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Фокус следующего периода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066D85-D8ED-48FC-A932-09B9BA92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334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Предлагаемые цели до следующего ассесмента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93790F-0922-476D-B3F8-4B3C9881E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 u="sng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425" b="1" u="sng">
                <a:solidFill>
                  <a:srgbClr val="1D73E8"/>
                </a:solidFill>
                <a:latin typeface="Lato"/>
                <a:ea typeface="Lato"/>
                <a:cs typeface="Lato"/>
              </a:rPr>
              <a:t>INTEGRIX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C1C2B6-B232-4093-8EB3-A8B5AB5B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DD8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9AFA1B-FE9F-4B15-82D3-EC3E6E0C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627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1D73E8"/>
                </a:solidFill>
                <a:latin typeface="Lato"/>
                <a:ea typeface="Lato"/>
                <a:cs typeface="Lato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8AEF2A-6FA8-44D5-BD7D-85C50CB8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2400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A8CEFF"/>
                </a:solidFill>
                <a:latin typeface="Lato"/>
                <a:ea typeface="Lato"/>
                <a:cs typeface="Lato"/>
              </a:defRPr>
            </a:pPr>
            <a:r>
              <a:rPr sz="2400" b="1">
                <a:solidFill>
                  <a:srgbClr val="A8CEFF"/>
                </a:solidFill>
                <a:latin typeface="Lato"/>
                <a:ea typeface="Lato"/>
                <a:cs typeface="Lat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752132-8EEC-4E8C-B702-802D90E9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524000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7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ФРГУ 3.0 и ЕПГУ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B8B5B7-90E9-46DD-BDC8-5C84E449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524000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Довести целевые сценарии до пилота и формальной приёмки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2E4493-22CF-41B1-9599-13E9CC36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62200"/>
            <a:ext cx="957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D8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E56CF4-4136-420B-BA3F-0772A34E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9080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A8CEFF"/>
                </a:solidFill>
                <a:latin typeface="Lato"/>
                <a:ea typeface="Lato"/>
                <a:cs typeface="Lato"/>
              </a:defRPr>
            </a:pPr>
            <a:r>
              <a:rPr sz="2400" b="1">
                <a:solidFill>
                  <a:srgbClr val="A8CEFF"/>
                </a:solidFill>
                <a:latin typeface="Lato"/>
                <a:ea typeface="Lato"/>
                <a:cs typeface="Lat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743081-82BB-4670-934B-CB134E19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90800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7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MAX-боты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15D45E-CDCE-46E1-8206-21E239CF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90800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Зафиксировать повторно используемую архитектуру, API-контракты и типовые сценарии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01027E-1D89-4F12-B233-22A5A224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29000"/>
            <a:ext cx="957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D8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2A029A-C6AC-41BB-8727-D445E8E7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5760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A8CEFF"/>
                </a:solidFill>
                <a:latin typeface="Lato"/>
                <a:ea typeface="Lato"/>
                <a:cs typeface="Lato"/>
              </a:defRPr>
            </a:pPr>
            <a:r>
              <a:rPr sz="2400" b="1">
                <a:solidFill>
                  <a:srgbClr val="A8CEFF"/>
                </a:solidFill>
                <a:latin typeface="Lato"/>
                <a:ea typeface="Lato"/>
                <a:cs typeface="Lat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665249-D3BB-4AA2-86F4-1D7A084E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57600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7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Re:Turn и СБП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DC55C2-5323-4397-A6BF-C827C9B6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57600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Добавить измеримые критерии приёмки и метрики продуктивной эксплуатации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E4A9E9-0428-4FC7-89D1-4E1DBE34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95800"/>
            <a:ext cx="957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D8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7A711C-D3EE-419B-88AE-27A55777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72440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A8CEFF"/>
                </a:solidFill>
                <a:latin typeface="Lato"/>
                <a:ea typeface="Lato"/>
                <a:cs typeface="Lato"/>
              </a:defRPr>
            </a:pPr>
            <a:r>
              <a:rPr sz="2400" b="1">
                <a:solidFill>
                  <a:srgbClr val="A8CEFF"/>
                </a:solidFill>
                <a:latin typeface="Lato"/>
                <a:ea typeface="Lato"/>
                <a:cs typeface="Lato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5D2108-9C40-4D30-BA33-E8844CFF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24400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7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Трассируемость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CE9360-2127-4664-BB9A-4CD98BED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724400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02A56"/>
                </a:solidFill>
                <a:latin typeface="Lato"/>
                <a:ea typeface="Lato"/>
                <a:cs typeface="Lato"/>
              </a:rPr>
              <a:t>Связать требование, задачу на разработку, тест и принятый результат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537877-67FF-46B1-AB2A-280ED8E2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1975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D73E8"/>
                </a:solidFill>
                <a:latin typeface="Lato"/>
                <a:ea typeface="Lato"/>
                <a:cs typeface="Lato"/>
              </a:rPr>
              <a:t>Цель: сделать результаты аналитики не только выполненными, но и повторно используемыми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DFE55B-22D8-44FA-A3DD-E91EA2DC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8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План на следующий период; требует согласования с руководителем</a:t>
            </a:r>
          </a:p>
        </p:txBody>
      </p:sp>
    </p:spTree>
    <p:extLst>
      <p:ext uri="{BB962C8B-B14F-4D97-AF65-F5344CB8AC3E}">
        <p14:creationId xmlns:p14="http://schemas.microsoft.com/office/powerpoint/2010/main" val="127757618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5dc5a4e82f436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CB81B7-8BEA-48C9-8C3A-77599C58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4B9CFF"/>
                </a:solidFill>
                <a:latin typeface="Lato"/>
                <a:ea typeface="Lato"/>
                <a:cs typeface="Lato"/>
              </a:defRPr>
            </a:pPr>
            <a:r>
              <a:rPr sz="1425" b="1">
                <a:solidFill>
                  <a:srgbClr val="4B9CFF"/>
                </a:solidFill>
                <a:latin typeface="Lato"/>
                <a:ea typeface="Lato"/>
                <a:cs typeface="Lato"/>
              </a:rPr>
              <a:t>ИТОГ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00D2AC-BC2D-44BA-80C1-6BEE7CC0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04900"/>
            <a:ext cx="90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D73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B862F4-A9DA-44C2-ACD5-9C606174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6048375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3000" b="1">
                <a:solidFill>
                  <a:srgbClr val="FFFFFF"/>
                </a:solidFill>
                <a:latin typeface="Lato"/>
                <a:ea typeface="Lato"/>
                <a:cs typeface="Lato"/>
              </a:rPr>
              <a:t>Роль системного</a:t>
            </a:r>
          </a:p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3000" b="1">
                <a:solidFill>
                  <a:srgbClr val="FFFFFF"/>
                </a:solidFill>
                <a:latin typeface="Lato"/>
                <a:ea typeface="Lato"/>
                <a:cs typeface="Lato"/>
              </a:rPr>
              <a:t>аналитика расширилась</a:t>
            </a:r>
          </a:p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3000" b="1">
                <a:solidFill>
                  <a:srgbClr val="FFFFFF"/>
                </a:solidFill>
                <a:latin typeface="Lato"/>
                <a:ea typeface="Lato"/>
                <a:cs typeface="Lato"/>
              </a:rPr>
              <a:t>до полного цикла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7A5C3F-1A22-4595-B324-06F07A630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14750"/>
            <a:ext cx="600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A8CEFF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A8CEFF"/>
                </a:solidFill>
                <a:latin typeface="Lato"/>
                <a:ea typeface="Lato"/>
                <a:cs typeface="Lato"/>
              </a:rPr>
              <a:t>93 задачи · 1 214,5 часа · 3 региона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AA3695-6E18-42C1-9D71-8F8CF57E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76750"/>
            <a:ext cx="5762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D8E8FF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D8E8FF"/>
                </a:solidFill>
                <a:latin typeface="Lato"/>
                <a:ea typeface="Lato"/>
                <a:cs typeface="Lato"/>
              </a:rPr>
              <a:t>Требования, модели данных, API,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D8E8FF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D8E8FF"/>
                </a:solidFill>
                <a:latin typeface="Lato"/>
                <a:ea typeface="Lato"/>
                <a:cs typeface="Lato"/>
              </a:rPr>
              <a:t>задачи на разработку и приёмка результата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21364D-576F-4D5D-B979-BC1B52FA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102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u="sng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500" b="1" u="sng">
                <a:solidFill>
                  <a:srgbClr val="FFFFFF"/>
                </a:solidFill>
                <a:latin typeface="Lato"/>
                <a:ea typeface="Lato"/>
                <a:cs typeface="Lato"/>
              </a:rPr>
              <a:t>INTEGRIX</a:t>
            </a:r>
          </a:p>
        </p:txBody>
      </p:sp>
    </p:spTree>
    <p:extLst>
      <p:ext uri="{BB962C8B-B14F-4D97-AF65-F5344CB8AC3E}">
        <p14:creationId xmlns:p14="http://schemas.microsoft.com/office/powerpoint/2010/main" val="10026641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2026-09-23T05:15:02.2440000Z</dcterms:created>
  <dcterms:modified xsi:type="dcterms:W3CDTF">2026-09-23T05:15:02.2440000Z</dcterms:modified>
</coreProperties>
</file>